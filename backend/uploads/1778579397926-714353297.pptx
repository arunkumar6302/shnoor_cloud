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67" r:id="rId2"/>
    <p:sldId id="268" r:id="rId3"/>
    <p:sldId id="275" r:id="rId4"/>
    <p:sldId id="276" r:id="rId5"/>
    <p:sldId id="277" r:id="rId6"/>
    <p:sldId id="278" r:id="rId7"/>
    <p:sldId id="310" r:id="rId8"/>
    <p:sldId id="296" r:id="rId9"/>
    <p:sldId id="288" r:id="rId10"/>
    <p:sldId id="300" r:id="rId11"/>
    <p:sldId id="304" r:id="rId12"/>
    <p:sldId id="303" r:id="rId13"/>
    <p:sldId id="305" r:id="rId14"/>
    <p:sldId id="279" r:id="rId15"/>
    <p:sldId id="291" r:id="rId16"/>
    <p:sldId id="293" r:id="rId17"/>
    <p:sldId id="294" r:id="rId18"/>
    <p:sldId id="308" r:id="rId19"/>
    <p:sldId id="281" r:id="rId20"/>
    <p:sldId id="309" r:id="rId21"/>
    <p:sldId id="289" r:id="rId22"/>
    <p:sldId id="29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39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4D1D45-6469-45A7-9D4E-05D7E019FAF5}" type="datetimeFigureOut">
              <a:rPr lang="en-IN" smtClean="0"/>
              <a:t>09-04-2026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EC5B14-35BC-466B-8C06-66DBAD6F47F3}" type="slidenum">
              <a:rPr lang="en-IN" smtClean="0"/>
              <a:t>‹#›</a:t>
            </a:fld>
            <a:endParaRPr lang="en-IN"/>
          </a:p>
        </p:txBody>
      </p:sp>
    </p:spTree>
    <p:extLst>
      <p:ext uri="{BB962C8B-B14F-4D97-AF65-F5344CB8AC3E}">
        <p14:creationId xmlns:p14="http://schemas.microsoft.com/office/powerpoint/2010/main" val="3292099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EC5B14-35BC-466B-8C06-66DBAD6F47F3}" type="slidenum">
              <a:rPr lang="en-IN" smtClean="0"/>
              <a:t>1</a:t>
            </a:fld>
            <a:endParaRPr lang="en-IN"/>
          </a:p>
        </p:txBody>
      </p:sp>
    </p:spTree>
    <p:extLst>
      <p:ext uri="{BB962C8B-B14F-4D97-AF65-F5344CB8AC3E}">
        <p14:creationId xmlns:p14="http://schemas.microsoft.com/office/powerpoint/2010/main" val="2880531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8FC78BE-84F6-4F5F-974A-47A573FE2857}" type="slidenum">
              <a:rPr lang="en-US" smtClean="0"/>
              <a:pPr/>
              <a:t>2</a:t>
            </a:fld>
            <a:endParaRPr lang="en-US"/>
          </a:p>
        </p:txBody>
      </p:sp>
    </p:spTree>
    <p:extLst>
      <p:ext uri="{BB962C8B-B14F-4D97-AF65-F5344CB8AC3E}">
        <p14:creationId xmlns:p14="http://schemas.microsoft.com/office/powerpoint/2010/main" val="2760131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25A58-5BA8-87AA-2E81-0535A72F22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F7E5B-BE92-5437-5B13-A7D5AD1D2A6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9F5F034-959C-A179-2985-6536152564E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C1FEC5C-F498-6384-92E6-D33CB3F09012}"/>
              </a:ext>
            </a:extLst>
          </p:cNvPr>
          <p:cNvSpPr>
            <a:spLocks noGrp="1"/>
          </p:cNvSpPr>
          <p:nvPr>
            <p:ph type="sldNum" sz="quarter" idx="5"/>
          </p:nvPr>
        </p:nvSpPr>
        <p:spPr/>
        <p:txBody>
          <a:bodyPr/>
          <a:lstStyle/>
          <a:p>
            <a:fld id="{28FC78BE-84F6-4F5F-974A-47A573FE2857}" type="slidenum">
              <a:rPr lang="en-US" smtClean="0"/>
              <a:pPr/>
              <a:t>3</a:t>
            </a:fld>
            <a:endParaRPr lang="en-US"/>
          </a:p>
        </p:txBody>
      </p:sp>
    </p:spTree>
    <p:extLst>
      <p:ext uri="{BB962C8B-B14F-4D97-AF65-F5344CB8AC3E}">
        <p14:creationId xmlns:p14="http://schemas.microsoft.com/office/powerpoint/2010/main" val="4146071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81ACE-FA5A-D2B9-F254-15FAC1806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42344-5C7C-31A9-89C1-68C90C2E45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BD9EFA-6561-8161-AB32-755673041DC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2B3A229-3E2D-3835-14F5-F1E87CEBA5E5}"/>
              </a:ext>
            </a:extLst>
          </p:cNvPr>
          <p:cNvSpPr>
            <a:spLocks noGrp="1"/>
          </p:cNvSpPr>
          <p:nvPr>
            <p:ph type="sldNum" sz="quarter" idx="5"/>
          </p:nvPr>
        </p:nvSpPr>
        <p:spPr/>
        <p:txBody>
          <a:bodyPr/>
          <a:lstStyle/>
          <a:p>
            <a:fld id="{28FC78BE-84F6-4F5F-974A-47A573FE2857}" type="slidenum">
              <a:rPr lang="en-US" smtClean="0"/>
              <a:pPr/>
              <a:t>4</a:t>
            </a:fld>
            <a:endParaRPr lang="en-US"/>
          </a:p>
        </p:txBody>
      </p:sp>
    </p:spTree>
    <p:extLst>
      <p:ext uri="{BB962C8B-B14F-4D97-AF65-F5344CB8AC3E}">
        <p14:creationId xmlns:p14="http://schemas.microsoft.com/office/powerpoint/2010/main" val="3906884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A9D27-B22B-BAC6-FAA0-D2B127B1B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64512-592D-070D-9EF6-37D95D55214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48A90F9-305D-0E8D-F4EC-E0C06A84B26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F80DC10-FEC8-5B00-D15F-A8F84A365D63}"/>
              </a:ext>
            </a:extLst>
          </p:cNvPr>
          <p:cNvSpPr>
            <a:spLocks noGrp="1"/>
          </p:cNvSpPr>
          <p:nvPr>
            <p:ph type="sldNum" sz="quarter" idx="5"/>
          </p:nvPr>
        </p:nvSpPr>
        <p:spPr/>
        <p:txBody>
          <a:bodyPr/>
          <a:lstStyle/>
          <a:p>
            <a:fld id="{28FC78BE-84F6-4F5F-974A-47A573FE2857}" type="slidenum">
              <a:rPr lang="en-US" smtClean="0"/>
              <a:pPr/>
              <a:t>5</a:t>
            </a:fld>
            <a:endParaRPr lang="en-US"/>
          </a:p>
        </p:txBody>
      </p:sp>
    </p:spTree>
    <p:extLst>
      <p:ext uri="{BB962C8B-B14F-4D97-AF65-F5344CB8AC3E}">
        <p14:creationId xmlns:p14="http://schemas.microsoft.com/office/powerpoint/2010/main" val="2915384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3AB38-255B-148E-895A-D701DE1F6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A9D1E2-E319-0D46-0AAC-2AC0027810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489B73-03FF-D428-EF72-28A955051A6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401CBCC-18A8-85E6-09CC-48A7706FDF63}"/>
              </a:ext>
            </a:extLst>
          </p:cNvPr>
          <p:cNvSpPr>
            <a:spLocks noGrp="1"/>
          </p:cNvSpPr>
          <p:nvPr>
            <p:ph type="sldNum" sz="quarter" idx="5"/>
          </p:nvPr>
        </p:nvSpPr>
        <p:spPr/>
        <p:txBody>
          <a:bodyPr/>
          <a:lstStyle/>
          <a:p>
            <a:fld id="{28FC78BE-84F6-4F5F-974A-47A573FE2857}" type="slidenum">
              <a:rPr lang="en-US" smtClean="0"/>
              <a:pPr/>
              <a:t>6</a:t>
            </a:fld>
            <a:endParaRPr lang="en-US"/>
          </a:p>
        </p:txBody>
      </p:sp>
    </p:spTree>
    <p:extLst>
      <p:ext uri="{BB962C8B-B14F-4D97-AF65-F5344CB8AC3E}">
        <p14:creationId xmlns:p14="http://schemas.microsoft.com/office/powerpoint/2010/main" val="2514409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09AF1-DD72-C689-0A03-29D4F49555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59812-E74F-88DD-3A8D-14F340192CA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7719AC-D0CD-9793-BBF4-F72BE949183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DD34CE2-A0BD-26F4-BD35-E1F4107651D4}"/>
              </a:ext>
            </a:extLst>
          </p:cNvPr>
          <p:cNvSpPr>
            <a:spLocks noGrp="1"/>
          </p:cNvSpPr>
          <p:nvPr>
            <p:ph type="sldNum" sz="quarter" idx="5"/>
          </p:nvPr>
        </p:nvSpPr>
        <p:spPr/>
        <p:txBody>
          <a:bodyPr/>
          <a:lstStyle/>
          <a:p>
            <a:fld id="{28FC78BE-84F6-4F5F-974A-47A573FE2857}" type="slidenum">
              <a:rPr lang="en-US" smtClean="0"/>
              <a:pPr/>
              <a:t>7</a:t>
            </a:fld>
            <a:endParaRPr lang="en-US"/>
          </a:p>
        </p:txBody>
      </p:sp>
    </p:spTree>
    <p:extLst>
      <p:ext uri="{BB962C8B-B14F-4D97-AF65-F5344CB8AC3E}">
        <p14:creationId xmlns:p14="http://schemas.microsoft.com/office/powerpoint/2010/main" val="3198653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17361-B2C2-5B15-21F9-9D61CA6F00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8F023-3C1F-A04B-7CE0-D9F1666345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9AE4BB1-ED43-336E-1CDB-9B78D04FD16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DCE65D1-682D-3F3D-8B43-89673F8C77AE}"/>
              </a:ext>
            </a:extLst>
          </p:cNvPr>
          <p:cNvSpPr>
            <a:spLocks noGrp="1"/>
          </p:cNvSpPr>
          <p:nvPr>
            <p:ph type="sldNum" sz="quarter" idx="5"/>
          </p:nvPr>
        </p:nvSpPr>
        <p:spPr/>
        <p:txBody>
          <a:bodyPr/>
          <a:lstStyle/>
          <a:p>
            <a:fld id="{28FC78BE-84F6-4F5F-974A-47A573FE2857}" type="slidenum">
              <a:rPr lang="en-US" smtClean="0"/>
              <a:pPr/>
              <a:t>8</a:t>
            </a:fld>
            <a:endParaRPr lang="en-US"/>
          </a:p>
        </p:txBody>
      </p:sp>
    </p:spTree>
    <p:extLst>
      <p:ext uri="{BB962C8B-B14F-4D97-AF65-F5344CB8AC3E}">
        <p14:creationId xmlns:p14="http://schemas.microsoft.com/office/powerpoint/2010/main" val="269619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47EF4-EFFC-FBB4-86AE-F54CB934A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E23769-9A53-8BCC-7CBA-D6D4259B04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3E455F6-12BB-B4F1-87B2-0EA03327D75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98773D1-F13B-A937-E18D-8AD214CE6DED}"/>
              </a:ext>
            </a:extLst>
          </p:cNvPr>
          <p:cNvSpPr>
            <a:spLocks noGrp="1"/>
          </p:cNvSpPr>
          <p:nvPr>
            <p:ph type="sldNum" sz="quarter" idx="5"/>
          </p:nvPr>
        </p:nvSpPr>
        <p:spPr/>
        <p:txBody>
          <a:bodyPr/>
          <a:lstStyle/>
          <a:p>
            <a:fld id="{28FC78BE-84F6-4F5F-974A-47A573FE2857}" type="slidenum">
              <a:rPr lang="en-US" smtClean="0"/>
              <a:pPr/>
              <a:t>9</a:t>
            </a:fld>
            <a:endParaRPr lang="en-US"/>
          </a:p>
        </p:txBody>
      </p:sp>
    </p:spTree>
    <p:extLst>
      <p:ext uri="{BB962C8B-B14F-4D97-AF65-F5344CB8AC3E}">
        <p14:creationId xmlns:p14="http://schemas.microsoft.com/office/powerpoint/2010/main" val="3147151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DAC1E-EC67-E423-AF19-0B96ED40A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DFE05-F7CA-B852-4323-CC3156432C1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E39983B-5CD3-DC88-A693-270565941C5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59163C9-DB0B-2570-5CD1-A0225FABC3FF}"/>
              </a:ext>
            </a:extLst>
          </p:cNvPr>
          <p:cNvSpPr>
            <a:spLocks noGrp="1"/>
          </p:cNvSpPr>
          <p:nvPr>
            <p:ph type="sldNum" sz="quarter" idx="5"/>
          </p:nvPr>
        </p:nvSpPr>
        <p:spPr/>
        <p:txBody>
          <a:bodyPr/>
          <a:lstStyle/>
          <a:p>
            <a:fld id="{28FC78BE-84F6-4F5F-974A-47A573FE2857}" type="slidenum">
              <a:rPr lang="en-US" smtClean="0"/>
              <a:pPr/>
              <a:t>10</a:t>
            </a:fld>
            <a:endParaRPr lang="en-US"/>
          </a:p>
        </p:txBody>
      </p:sp>
    </p:spTree>
    <p:extLst>
      <p:ext uri="{BB962C8B-B14F-4D97-AF65-F5344CB8AC3E}">
        <p14:creationId xmlns:p14="http://schemas.microsoft.com/office/powerpoint/2010/main" val="2379561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FA29C-E469-6201-D5D1-C1E7873DDC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27855-4A5B-9E1E-CCB7-F6B2CC4EC4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3C6E5C-E523-8CAC-9EAD-099EB25D717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C673559-C50E-E30A-3A79-7396C40038F0}"/>
              </a:ext>
            </a:extLst>
          </p:cNvPr>
          <p:cNvSpPr>
            <a:spLocks noGrp="1"/>
          </p:cNvSpPr>
          <p:nvPr>
            <p:ph type="sldNum" sz="quarter" idx="5"/>
          </p:nvPr>
        </p:nvSpPr>
        <p:spPr/>
        <p:txBody>
          <a:bodyPr/>
          <a:lstStyle/>
          <a:p>
            <a:fld id="{28FC78BE-84F6-4F5F-974A-47A573FE2857}" type="slidenum">
              <a:rPr lang="en-US" smtClean="0"/>
              <a:pPr/>
              <a:t>11</a:t>
            </a:fld>
            <a:endParaRPr lang="en-US"/>
          </a:p>
        </p:txBody>
      </p:sp>
    </p:spTree>
    <p:extLst>
      <p:ext uri="{BB962C8B-B14F-4D97-AF65-F5344CB8AC3E}">
        <p14:creationId xmlns:p14="http://schemas.microsoft.com/office/powerpoint/2010/main" val="1105955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10E72-0E0E-9838-3091-F4825F9E4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F8571-1C61-F805-D3A8-2433BA5F012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E0D5C64-04B2-FE8B-EFFD-BB5EFEA4BA6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386C2F2-5918-8115-B008-2565321BF84C}"/>
              </a:ext>
            </a:extLst>
          </p:cNvPr>
          <p:cNvSpPr>
            <a:spLocks noGrp="1"/>
          </p:cNvSpPr>
          <p:nvPr>
            <p:ph type="sldNum" sz="quarter" idx="5"/>
          </p:nvPr>
        </p:nvSpPr>
        <p:spPr/>
        <p:txBody>
          <a:bodyPr/>
          <a:lstStyle/>
          <a:p>
            <a:fld id="{28FC78BE-84F6-4F5F-974A-47A573FE2857}" type="slidenum">
              <a:rPr lang="en-US" smtClean="0"/>
              <a:pPr/>
              <a:t>12</a:t>
            </a:fld>
            <a:endParaRPr lang="en-US"/>
          </a:p>
        </p:txBody>
      </p:sp>
    </p:spTree>
    <p:extLst>
      <p:ext uri="{BB962C8B-B14F-4D97-AF65-F5344CB8AC3E}">
        <p14:creationId xmlns:p14="http://schemas.microsoft.com/office/powerpoint/2010/main" val="40923500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5D52E-3926-BD97-150E-07F081C90C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82D39-659A-F11C-278D-C8EDA8716D7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064068-8304-C9C1-51F7-FF9D948B8B1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A6F7F64-BC37-80CA-6A69-5EBAC3E728BB}"/>
              </a:ext>
            </a:extLst>
          </p:cNvPr>
          <p:cNvSpPr>
            <a:spLocks noGrp="1"/>
          </p:cNvSpPr>
          <p:nvPr>
            <p:ph type="sldNum" sz="quarter" idx="5"/>
          </p:nvPr>
        </p:nvSpPr>
        <p:spPr/>
        <p:txBody>
          <a:bodyPr/>
          <a:lstStyle/>
          <a:p>
            <a:fld id="{28FC78BE-84F6-4F5F-974A-47A573FE2857}" type="slidenum">
              <a:rPr lang="en-US" smtClean="0"/>
              <a:pPr/>
              <a:t>13</a:t>
            </a:fld>
            <a:endParaRPr lang="en-US"/>
          </a:p>
        </p:txBody>
      </p:sp>
    </p:spTree>
    <p:extLst>
      <p:ext uri="{BB962C8B-B14F-4D97-AF65-F5344CB8AC3E}">
        <p14:creationId xmlns:p14="http://schemas.microsoft.com/office/powerpoint/2010/main" val="40574914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03375-60D9-28C1-53DC-D237B3C4D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8884A-3801-9906-4669-94B04A63AD1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067BEC-B0D1-8049-7990-43CED831AB5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4C25515-26DB-1A09-7BF9-CCC086D66B86}"/>
              </a:ext>
            </a:extLst>
          </p:cNvPr>
          <p:cNvSpPr>
            <a:spLocks noGrp="1"/>
          </p:cNvSpPr>
          <p:nvPr>
            <p:ph type="sldNum" sz="quarter" idx="5"/>
          </p:nvPr>
        </p:nvSpPr>
        <p:spPr/>
        <p:txBody>
          <a:bodyPr/>
          <a:lstStyle/>
          <a:p>
            <a:fld id="{28FC78BE-84F6-4F5F-974A-47A573FE2857}" type="slidenum">
              <a:rPr lang="en-US" smtClean="0"/>
              <a:pPr/>
              <a:t>14</a:t>
            </a:fld>
            <a:endParaRPr lang="en-US"/>
          </a:p>
        </p:txBody>
      </p:sp>
    </p:spTree>
    <p:extLst>
      <p:ext uri="{BB962C8B-B14F-4D97-AF65-F5344CB8AC3E}">
        <p14:creationId xmlns:p14="http://schemas.microsoft.com/office/powerpoint/2010/main" val="3092244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89C3D-57EE-9699-6989-8A3D0FAC8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A04C80-EA60-CAAE-29DD-D6823BF4804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7660D1-B45A-8949-6A4B-7539BDB30C0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2D58BDF-B5A9-6756-3782-A0459CCD24B3}"/>
              </a:ext>
            </a:extLst>
          </p:cNvPr>
          <p:cNvSpPr>
            <a:spLocks noGrp="1"/>
          </p:cNvSpPr>
          <p:nvPr>
            <p:ph type="sldNum" sz="quarter" idx="5"/>
          </p:nvPr>
        </p:nvSpPr>
        <p:spPr/>
        <p:txBody>
          <a:bodyPr/>
          <a:lstStyle/>
          <a:p>
            <a:fld id="{28FC78BE-84F6-4F5F-974A-47A573FE2857}" type="slidenum">
              <a:rPr lang="en-US" smtClean="0"/>
              <a:pPr/>
              <a:t>15</a:t>
            </a:fld>
            <a:endParaRPr lang="en-US"/>
          </a:p>
        </p:txBody>
      </p:sp>
    </p:spTree>
    <p:extLst>
      <p:ext uri="{BB962C8B-B14F-4D97-AF65-F5344CB8AC3E}">
        <p14:creationId xmlns:p14="http://schemas.microsoft.com/office/powerpoint/2010/main" val="22752449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F2D3D-DEFD-BE37-9DEC-B8A989761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E7D838-0D64-0427-DA0D-A2179AA510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ABB027-C464-A310-DEA1-03B68387A3D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65C58AF-68A4-D3AC-3611-12D8A6A8B827}"/>
              </a:ext>
            </a:extLst>
          </p:cNvPr>
          <p:cNvSpPr>
            <a:spLocks noGrp="1"/>
          </p:cNvSpPr>
          <p:nvPr>
            <p:ph type="sldNum" sz="quarter" idx="5"/>
          </p:nvPr>
        </p:nvSpPr>
        <p:spPr/>
        <p:txBody>
          <a:bodyPr/>
          <a:lstStyle/>
          <a:p>
            <a:fld id="{28FC78BE-84F6-4F5F-974A-47A573FE2857}" type="slidenum">
              <a:rPr lang="en-US" smtClean="0"/>
              <a:pPr/>
              <a:t>16</a:t>
            </a:fld>
            <a:endParaRPr lang="en-US"/>
          </a:p>
        </p:txBody>
      </p:sp>
    </p:spTree>
    <p:extLst>
      <p:ext uri="{BB962C8B-B14F-4D97-AF65-F5344CB8AC3E}">
        <p14:creationId xmlns:p14="http://schemas.microsoft.com/office/powerpoint/2010/main" val="35397511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F2E1D-683D-1FE4-C0AC-7AEB6D0772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EFDB1-4451-DBA3-1D5C-DA739D3A17F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F295FC6-2380-BDF1-5FF5-210BA077B73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ADDF2F0-8014-1629-C7DD-095A359ED184}"/>
              </a:ext>
            </a:extLst>
          </p:cNvPr>
          <p:cNvSpPr>
            <a:spLocks noGrp="1"/>
          </p:cNvSpPr>
          <p:nvPr>
            <p:ph type="sldNum" sz="quarter" idx="5"/>
          </p:nvPr>
        </p:nvSpPr>
        <p:spPr/>
        <p:txBody>
          <a:bodyPr/>
          <a:lstStyle/>
          <a:p>
            <a:fld id="{28FC78BE-84F6-4F5F-974A-47A573FE2857}" type="slidenum">
              <a:rPr lang="en-US" smtClean="0"/>
              <a:pPr/>
              <a:t>17</a:t>
            </a:fld>
            <a:endParaRPr lang="en-US"/>
          </a:p>
        </p:txBody>
      </p:sp>
    </p:spTree>
    <p:extLst>
      <p:ext uri="{BB962C8B-B14F-4D97-AF65-F5344CB8AC3E}">
        <p14:creationId xmlns:p14="http://schemas.microsoft.com/office/powerpoint/2010/main" val="3751778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80523-90B7-1FCF-D8A8-EA57B902F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0C009B-F3F9-9BCA-EE1F-3E0D77D42B2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814ADD6-455E-6288-0E5E-7F2FFC561E1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A5CC7B2-5A84-D384-00EB-0BB0B1DD2746}"/>
              </a:ext>
            </a:extLst>
          </p:cNvPr>
          <p:cNvSpPr>
            <a:spLocks noGrp="1"/>
          </p:cNvSpPr>
          <p:nvPr>
            <p:ph type="sldNum" sz="quarter" idx="5"/>
          </p:nvPr>
        </p:nvSpPr>
        <p:spPr/>
        <p:txBody>
          <a:bodyPr/>
          <a:lstStyle/>
          <a:p>
            <a:fld id="{28FC78BE-84F6-4F5F-974A-47A573FE2857}" type="slidenum">
              <a:rPr lang="en-US" smtClean="0"/>
              <a:pPr/>
              <a:t>18</a:t>
            </a:fld>
            <a:endParaRPr lang="en-US"/>
          </a:p>
        </p:txBody>
      </p:sp>
    </p:spTree>
    <p:extLst>
      <p:ext uri="{BB962C8B-B14F-4D97-AF65-F5344CB8AC3E}">
        <p14:creationId xmlns:p14="http://schemas.microsoft.com/office/powerpoint/2010/main" val="2906405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111A1-A520-6692-8AC1-CDC7B8697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998781-0784-8373-21DB-C5C195012B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BE8905-08AD-438F-53A3-37CB8C43C2E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6CFDA5-D29B-387A-9E5A-1B66C39578A1}"/>
              </a:ext>
            </a:extLst>
          </p:cNvPr>
          <p:cNvSpPr>
            <a:spLocks noGrp="1"/>
          </p:cNvSpPr>
          <p:nvPr>
            <p:ph type="sldNum" sz="quarter" idx="5"/>
          </p:nvPr>
        </p:nvSpPr>
        <p:spPr/>
        <p:txBody>
          <a:bodyPr/>
          <a:lstStyle/>
          <a:p>
            <a:fld id="{28FC78BE-84F6-4F5F-974A-47A573FE2857}" type="slidenum">
              <a:rPr lang="en-US" smtClean="0"/>
              <a:pPr/>
              <a:t>19</a:t>
            </a:fld>
            <a:endParaRPr lang="en-US"/>
          </a:p>
        </p:txBody>
      </p:sp>
    </p:spTree>
    <p:extLst>
      <p:ext uri="{BB962C8B-B14F-4D97-AF65-F5344CB8AC3E}">
        <p14:creationId xmlns:p14="http://schemas.microsoft.com/office/powerpoint/2010/main" val="2546710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3D644-188D-A635-D06B-7D69BCC649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AEA8C-31F6-5F9D-5C69-2BA1B2AF4E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CF718D4-846F-A049-CCF2-4420F25591D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EDFBBC6-1FDF-1D6F-B44C-E868B4C358EF}"/>
              </a:ext>
            </a:extLst>
          </p:cNvPr>
          <p:cNvSpPr>
            <a:spLocks noGrp="1"/>
          </p:cNvSpPr>
          <p:nvPr>
            <p:ph type="sldNum" sz="quarter" idx="5"/>
          </p:nvPr>
        </p:nvSpPr>
        <p:spPr/>
        <p:txBody>
          <a:bodyPr/>
          <a:lstStyle/>
          <a:p>
            <a:fld id="{28FC78BE-84F6-4F5F-974A-47A573FE2857}" type="slidenum">
              <a:rPr lang="en-US" smtClean="0"/>
              <a:pPr/>
              <a:t>20</a:t>
            </a:fld>
            <a:endParaRPr lang="en-US"/>
          </a:p>
        </p:txBody>
      </p:sp>
    </p:spTree>
    <p:extLst>
      <p:ext uri="{BB962C8B-B14F-4D97-AF65-F5344CB8AC3E}">
        <p14:creationId xmlns:p14="http://schemas.microsoft.com/office/powerpoint/2010/main" val="1365676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AB15E-9A7F-FCD9-48D1-FC1D222F3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FC4A89-68BA-2E66-DB4C-397ED29C3F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B34D1B8-84DE-DB65-0BFE-BF8E85C5887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A76E776-2471-C5F3-47C9-F931D67E0E4E}"/>
              </a:ext>
            </a:extLst>
          </p:cNvPr>
          <p:cNvSpPr>
            <a:spLocks noGrp="1"/>
          </p:cNvSpPr>
          <p:nvPr>
            <p:ph type="sldNum" sz="quarter" idx="5"/>
          </p:nvPr>
        </p:nvSpPr>
        <p:spPr/>
        <p:txBody>
          <a:bodyPr/>
          <a:lstStyle/>
          <a:p>
            <a:fld id="{28FC78BE-84F6-4F5F-974A-47A573FE2857}" type="slidenum">
              <a:rPr lang="en-US" smtClean="0"/>
              <a:pPr/>
              <a:t>21</a:t>
            </a:fld>
            <a:endParaRPr lang="en-US"/>
          </a:p>
        </p:txBody>
      </p:sp>
    </p:spTree>
    <p:extLst>
      <p:ext uri="{BB962C8B-B14F-4D97-AF65-F5344CB8AC3E}">
        <p14:creationId xmlns:p14="http://schemas.microsoft.com/office/powerpoint/2010/main" val="23213848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2CB5B-8F5D-ADA0-3C19-365E07DCC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8D212-2CAD-08F7-F6EE-71FC8B0A88B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6D7D26-3872-1F5B-96C7-6313F7D60C5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B9CC9E5-6F81-FF5E-FD0C-19316F06B2B0}"/>
              </a:ext>
            </a:extLst>
          </p:cNvPr>
          <p:cNvSpPr>
            <a:spLocks noGrp="1"/>
          </p:cNvSpPr>
          <p:nvPr>
            <p:ph type="sldNum" sz="quarter" idx="5"/>
          </p:nvPr>
        </p:nvSpPr>
        <p:spPr/>
        <p:txBody>
          <a:bodyPr/>
          <a:lstStyle/>
          <a:p>
            <a:fld id="{28FC78BE-84F6-4F5F-974A-47A573FE2857}" type="slidenum">
              <a:rPr lang="en-US" smtClean="0"/>
              <a:pPr/>
              <a:t>22</a:t>
            </a:fld>
            <a:endParaRPr lang="en-US"/>
          </a:p>
        </p:txBody>
      </p:sp>
    </p:spTree>
    <p:extLst>
      <p:ext uri="{BB962C8B-B14F-4D97-AF65-F5344CB8AC3E}">
        <p14:creationId xmlns:p14="http://schemas.microsoft.com/office/powerpoint/2010/main" val="3909695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F6F7E-009E-BFEB-C37A-2A9E516A09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BC02FF5-9A92-4590-E2E2-33E7F47C5A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20DF9E-A7DD-B54B-A0E5-A59199D69200}"/>
              </a:ext>
            </a:extLst>
          </p:cNvPr>
          <p:cNvSpPr>
            <a:spLocks noGrp="1"/>
          </p:cNvSpPr>
          <p:nvPr>
            <p:ph type="dt" sz="half" idx="10"/>
          </p:nvPr>
        </p:nvSpPr>
        <p:spPr/>
        <p:txBody>
          <a:bodyPr/>
          <a:lstStyle/>
          <a:p>
            <a:fld id="{0DBB0E7A-691A-49A6-B1F0-D26B85CC67C5}" type="datetimeFigureOut">
              <a:rPr lang="en-IN" smtClean="0"/>
              <a:t>09-04-2026</a:t>
            </a:fld>
            <a:endParaRPr lang="en-IN"/>
          </a:p>
        </p:txBody>
      </p:sp>
      <p:sp>
        <p:nvSpPr>
          <p:cNvPr id="5" name="Footer Placeholder 4">
            <a:extLst>
              <a:ext uri="{FF2B5EF4-FFF2-40B4-BE49-F238E27FC236}">
                <a16:creationId xmlns:a16="http://schemas.microsoft.com/office/drawing/2014/main" id="{E09522FE-8A63-70C2-0F76-3EC4F380E2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B10ABB-CAC6-AD9E-CA16-FB6199953A26}"/>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2351711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4597-D753-A1CA-05B9-5A5ADCE9F5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5A4807-4949-70BC-EFC5-B444189393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DF9EF5-B53B-B8F3-73B5-52A785B100C6}"/>
              </a:ext>
            </a:extLst>
          </p:cNvPr>
          <p:cNvSpPr>
            <a:spLocks noGrp="1"/>
          </p:cNvSpPr>
          <p:nvPr>
            <p:ph type="dt" sz="half" idx="10"/>
          </p:nvPr>
        </p:nvSpPr>
        <p:spPr/>
        <p:txBody>
          <a:bodyPr/>
          <a:lstStyle/>
          <a:p>
            <a:fld id="{0DBB0E7A-691A-49A6-B1F0-D26B85CC67C5}" type="datetimeFigureOut">
              <a:rPr lang="en-IN" smtClean="0"/>
              <a:t>09-04-2026</a:t>
            </a:fld>
            <a:endParaRPr lang="en-IN"/>
          </a:p>
        </p:txBody>
      </p:sp>
      <p:sp>
        <p:nvSpPr>
          <p:cNvPr id="5" name="Footer Placeholder 4">
            <a:extLst>
              <a:ext uri="{FF2B5EF4-FFF2-40B4-BE49-F238E27FC236}">
                <a16:creationId xmlns:a16="http://schemas.microsoft.com/office/drawing/2014/main" id="{81AF9B32-693D-5F55-2E4B-7C44ECE050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64B629-26AE-31C4-D4E2-81E34ED02845}"/>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4128974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00E81-FD43-9FC5-F4AD-A2B229B84E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949C76D-CCF2-463B-BE19-8E421E963D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424B7A-388E-E53A-F1AC-25B0CC00393A}"/>
              </a:ext>
            </a:extLst>
          </p:cNvPr>
          <p:cNvSpPr>
            <a:spLocks noGrp="1"/>
          </p:cNvSpPr>
          <p:nvPr>
            <p:ph type="dt" sz="half" idx="10"/>
          </p:nvPr>
        </p:nvSpPr>
        <p:spPr/>
        <p:txBody>
          <a:bodyPr/>
          <a:lstStyle/>
          <a:p>
            <a:fld id="{0DBB0E7A-691A-49A6-B1F0-D26B85CC67C5}" type="datetimeFigureOut">
              <a:rPr lang="en-IN" smtClean="0"/>
              <a:t>09-04-2026</a:t>
            </a:fld>
            <a:endParaRPr lang="en-IN"/>
          </a:p>
        </p:txBody>
      </p:sp>
      <p:sp>
        <p:nvSpPr>
          <p:cNvPr id="5" name="Footer Placeholder 4">
            <a:extLst>
              <a:ext uri="{FF2B5EF4-FFF2-40B4-BE49-F238E27FC236}">
                <a16:creationId xmlns:a16="http://schemas.microsoft.com/office/drawing/2014/main" id="{242EB7DA-648F-9CF9-DF59-8A29F189CD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F946B1-3E4E-9BF8-703E-60C10B5BFBBB}"/>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3110374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5C39D-9057-836C-6367-9778DBD84C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3CDBB5-5F5F-E8C3-20EE-32D4EF0F7E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3ACF99-01ED-9A6C-032E-EC0D6A675A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850886-5085-8914-5DF8-5D9C52AF2049}"/>
              </a:ext>
            </a:extLst>
          </p:cNvPr>
          <p:cNvSpPr>
            <a:spLocks noGrp="1"/>
          </p:cNvSpPr>
          <p:nvPr>
            <p:ph type="dt" sz="half" idx="10"/>
          </p:nvPr>
        </p:nvSpPr>
        <p:spPr/>
        <p:txBody>
          <a:bodyPr/>
          <a:lstStyle/>
          <a:p>
            <a:fld id="{0DBB0E7A-691A-49A6-B1F0-D26B85CC67C5}" type="datetimeFigureOut">
              <a:rPr lang="en-IN" smtClean="0"/>
              <a:t>09-04-2026</a:t>
            </a:fld>
            <a:endParaRPr lang="en-IN"/>
          </a:p>
        </p:txBody>
      </p:sp>
      <p:sp>
        <p:nvSpPr>
          <p:cNvPr id="6" name="Footer Placeholder 5">
            <a:extLst>
              <a:ext uri="{FF2B5EF4-FFF2-40B4-BE49-F238E27FC236}">
                <a16:creationId xmlns:a16="http://schemas.microsoft.com/office/drawing/2014/main" id="{58D53C6E-B8BA-1EDC-9109-612032209B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7E7F3E-CA8E-CA1B-CE29-61DCCC82242E}"/>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1225073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1C53A-BAAB-36AE-0B5E-A91A98C7C4B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42C93B-7E17-7D21-3E55-C0B3947BC9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FC7ACA-5A04-6C78-7C46-24DD0641E9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C1DB73-95E0-2CA5-1FAA-485060D454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68570A-C147-361A-270A-350B68584F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514703-0378-48EB-2D1D-7F4922945BE0}"/>
              </a:ext>
            </a:extLst>
          </p:cNvPr>
          <p:cNvSpPr>
            <a:spLocks noGrp="1"/>
          </p:cNvSpPr>
          <p:nvPr>
            <p:ph type="dt" sz="half" idx="10"/>
          </p:nvPr>
        </p:nvSpPr>
        <p:spPr/>
        <p:txBody>
          <a:bodyPr/>
          <a:lstStyle/>
          <a:p>
            <a:fld id="{0DBB0E7A-691A-49A6-B1F0-D26B85CC67C5}" type="datetimeFigureOut">
              <a:rPr lang="en-IN" smtClean="0"/>
              <a:t>09-04-2026</a:t>
            </a:fld>
            <a:endParaRPr lang="en-IN"/>
          </a:p>
        </p:txBody>
      </p:sp>
      <p:sp>
        <p:nvSpPr>
          <p:cNvPr id="8" name="Footer Placeholder 7">
            <a:extLst>
              <a:ext uri="{FF2B5EF4-FFF2-40B4-BE49-F238E27FC236}">
                <a16:creationId xmlns:a16="http://schemas.microsoft.com/office/drawing/2014/main" id="{7F2EE4F8-A60F-D9F9-CAAE-32AE0FE6C0D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F31DA8-888B-D212-D220-7AEE167D207F}"/>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1056068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BD602-B283-69F3-F102-395D730BCB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86205C-4426-9929-8251-ADEBC079F9FE}"/>
              </a:ext>
            </a:extLst>
          </p:cNvPr>
          <p:cNvSpPr>
            <a:spLocks noGrp="1"/>
          </p:cNvSpPr>
          <p:nvPr>
            <p:ph type="dt" sz="half" idx="10"/>
          </p:nvPr>
        </p:nvSpPr>
        <p:spPr/>
        <p:txBody>
          <a:bodyPr/>
          <a:lstStyle/>
          <a:p>
            <a:fld id="{0DBB0E7A-691A-49A6-B1F0-D26B85CC67C5}" type="datetimeFigureOut">
              <a:rPr lang="en-IN" smtClean="0"/>
              <a:t>09-04-2026</a:t>
            </a:fld>
            <a:endParaRPr lang="en-IN"/>
          </a:p>
        </p:txBody>
      </p:sp>
      <p:sp>
        <p:nvSpPr>
          <p:cNvPr id="4" name="Footer Placeholder 3">
            <a:extLst>
              <a:ext uri="{FF2B5EF4-FFF2-40B4-BE49-F238E27FC236}">
                <a16:creationId xmlns:a16="http://schemas.microsoft.com/office/drawing/2014/main" id="{EA5E2032-F457-1054-AF89-9E900A75BAA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B669171-D6D6-D6A4-865E-791B889C33DC}"/>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2769391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123FBE-12D0-2517-ECEA-C2A93913C694}"/>
              </a:ext>
            </a:extLst>
          </p:cNvPr>
          <p:cNvSpPr>
            <a:spLocks noGrp="1"/>
          </p:cNvSpPr>
          <p:nvPr>
            <p:ph type="dt" sz="half" idx="10"/>
          </p:nvPr>
        </p:nvSpPr>
        <p:spPr/>
        <p:txBody>
          <a:bodyPr/>
          <a:lstStyle/>
          <a:p>
            <a:fld id="{0DBB0E7A-691A-49A6-B1F0-D26B85CC67C5}" type="datetimeFigureOut">
              <a:rPr lang="en-IN" smtClean="0"/>
              <a:t>09-04-2026</a:t>
            </a:fld>
            <a:endParaRPr lang="en-IN"/>
          </a:p>
        </p:txBody>
      </p:sp>
      <p:sp>
        <p:nvSpPr>
          <p:cNvPr id="3" name="Footer Placeholder 2">
            <a:extLst>
              <a:ext uri="{FF2B5EF4-FFF2-40B4-BE49-F238E27FC236}">
                <a16:creationId xmlns:a16="http://schemas.microsoft.com/office/drawing/2014/main" id="{1EC080F8-8229-8E1D-A8E8-B2BAED6914C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1AA8199-F2CE-D464-414C-2E2D7A82C1F4}"/>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2684102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4E41D-E09A-1D31-FB44-60F73D02CB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6588AB-C354-920D-B642-C4B72AB852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0973447-B6B5-C20E-F555-CA3739B36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34B233-B9EF-274E-C5B1-1EEA34D889DC}"/>
              </a:ext>
            </a:extLst>
          </p:cNvPr>
          <p:cNvSpPr>
            <a:spLocks noGrp="1"/>
          </p:cNvSpPr>
          <p:nvPr>
            <p:ph type="dt" sz="half" idx="10"/>
          </p:nvPr>
        </p:nvSpPr>
        <p:spPr/>
        <p:txBody>
          <a:bodyPr/>
          <a:lstStyle/>
          <a:p>
            <a:fld id="{0DBB0E7A-691A-49A6-B1F0-D26B85CC67C5}" type="datetimeFigureOut">
              <a:rPr lang="en-IN" smtClean="0"/>
              <a:t>09-04-2026</a:t>
            </a:fld>
            <a:endParaRPr lang="en-IN"/>
          </a:p>
        </p:txBody>
      </p:sp>
      <p:sp>
        <p:nvSpPr>
          <p:cNvPr id="6" name="Footer Placeholder 5">
            <a:extLst>
              <a:ext uri="{FF2B5EF4-FFF2-40B4-BE49-F238E27FC236}">
                <a16:creationId xmlns:a16="http://schemas.microsoft.com/office/drawing/2014/main" id="{F06EA7E9-8413-1CD1-55DD-201B4D9E36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8FDE02-D27A-3007-13F6-CD5FB6C38897}"/>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843957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3EE92-0673-8D5D-7692-90E81C7DC8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55F483E-1BDD-55E7-3E4A-2AEC00E970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562A7BCD-37E6-6317-FB10-B6DF6F233B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A8DDD7-D562-A017-7B16-F96DDF88734D}"/>
              </a:ext>
            </a:extLst>
          </p:cNvPr>
          <p:cNvSpPr>
            <a:spLocks noGrp="1"/>
          </p:cNvSpPr>
          <p:nvPr>
            <p:ph type="dt" sz="half" idx="10"/>
          </p:nvPr>
        </p:nvSpPr>
        <p:spPr/>
        <p:txBody>
          <a:bodyPr/>
          <a:lstStyle/>
          <a:p>
            <a:fld id="{0DBB0E7A-691A-49A6-B1F0-D26B85CC67C5}" type="datetimeFigureOut">
              <a:rPr lang="en-IN" smtClean="0"/>
              <a:t>09-04-2026</a:t>
            </a:fld>
            <a:endParaRPr lang="en-IN"/>
          </a:p>
        </p:txBody>
      </p:sp>
      <p:sp>
        <p:nvSpPr>
          <p:cNvPr id="6" name="Footer Placeholder 5">
            <a:extLst>
              <a:ext uri="{FF2B5EF4-FFF2-40B4-BE49-F238E27FC236}">
                <a16:creationId xmlns:a16="http://schemas.microsoft.com/office/drawing/2014/main" id="{3FAEF617-63EE-1855-FA6E-75A1C1AC81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DD47F0-8385-DC86-88B5-9692CB7FDF2A}"/>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1750975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AD632-7E92-D52D-7A8F-3F71DB4246A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62D827-BAA4-987D-E6DE-7106860D43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6399DE-B890-3A55-0DD8-09032516342D}"/>
              </a:ext>
            </a:extLst>
          </p:cNvPr>
          <p:cNvSpPr>
            <a:spLocks noGrp="1"/>
          </p:cNvSpPr>
          <p:nvPr>
            <p:ph type="dt" sz="half" idx="10"/>
          </p:nvPr>
        </p:nvSpPr>
        <p:spPr/>
        <p:txBody>
          <a:bodyPr/>
          <a:lstStyle/>
          <a:p>
            <a:fld id="{0DBB0E7A-691A-49A6-B1F0-D26B85CC67C5}" type="datetimeFigureOut">
              <a:rPr lang="en-IN" smtClean="0"/>
              <a:t>09-04-2026</a:t>
            </a:fld>
            <a:endParaRPr lang="en-IN"/>
          </a:p>
        </p:txBody>
      </p:sp>
      <p:sp>
        <p:nvSpPr>
          <p:cNvPr id="5" name="Footer Placeholder 4">
            <a:extLst>
              <a:ext uri="{FF2B5EF4-FFF2-40B4-BE49-F238E27FC236}">
                <a16:creationId xmlns:a16="http://schemas.microsoft.com/office/drawing/2014/main" id="{4E36BE0A-3D2E-123E-22B6-F09E129BB7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44216D-D689-A634-8DC9-7EF2F0FA3E68}"/>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3687086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965D50-FFFC-196D-9962-0C5A16F87F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DF1AFF-34F0-9FF7-0824-FF83B057DE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764F87-4FFF-D541-815C-42DAF5BED3B9}"/>
              </a:ext>
            </a:extLst>
          </p:cNvPr>
          <p:cNvSpPr>
            <a:spLocks noGrp="1"/>
          </p:cNvSpPr>
          <p:nvPr>
            <p:ph type="dt" sz="half" idx="10"/>
          </p:nvPr>
        </p:nvSpPr>
        <p:spPr/>
        <p:txBody>
          <a:bodyPr/>
          <a:lstStyle/>
          <a:p>
            <a:fld id="{0DBB0E7A-691A-49A6-B1F0-D26B85CC67C5}" type="datetimeFigureOut">
              <a:rPr lang="en-IN" smtClean="0"/>
              <a:t>09-04-2026</a:t>
            </a:fld>
            <a:endParaRPr lang="en-IN"/>
          </a:p>
        </p:txBody>
      </p:sp>
      <p:sp>
        <p:nvSpPr>
          <p:cNvPr id="5" name="Footer Placeholder 4">
            <a:extLst>
              <a:ext uri="{FF2B5EF4-FFF2-40B4-BE49-F238E27FC236}">
                <a16:creationId xmlns:a16="http://schemas.microsoft.com/office/drawing/2014/main" id="{8CB531E4-DE51-5AF5-0ABC-BC4518D7E6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02BC8F-8BC9-FC4C-66C3-30DFEFE67BAE}"/>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317900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916571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D2C521-2D18-7140-975B-85EDC255C1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3C7CA4-1941-1257-05C4-C154515585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35C15F-01C2-3D60-D347-02F1C92780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B0E7A-691A-49A6-B1F0-D26B85CC67C5}" type="datetimeFigureOut">
              <a:rPr lang="en-IN" smtClean="0"/>
              <a:t>09-04-2026</a:t>
            </a:fld>
            <a:endParaRPr lang="en-IN"/>
          </a:p>
        </p:txBody>
      </p:sp>
      <p:sp>
        <p:nvSpPr>
          <p:cNvPr id="5" name="Footer Placeholder 4">
            <a:extLst>
              <a:ext uri="{FF2B5EF4-FFF2-40B4-BE49-F238E27FC236}">
                <a16:creationId xmlns:a16="http://schemas.microsoft.com/office/drawing/2014/main" id="{140CA51C-EBAC-AA2A-45C3-CC89F7DA24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716D6D1-6109-0C99-439D-DDDA7E1A85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2E5909-80DD-4F63-A607-40297820B079}" type="slidenum">
              <a:rPr lang="en-IN" smtClean="0"/>
              <a:t>‹#›</a:t>
            </a:fld>
            <a:endParaRPr lang="en-IN"/>
          </a:p>
        </p:txBody>
      </p:sp>
    </p:spTree>
    <p:extLst>
      <p:ext uri="{BB962C8B-B14F-4D97-AF65-F5344CB8AC3E}">
        <p14:creationId xmlns:p14="http://schemas.microsoft.com/office/powerpoint/2010/main" val="1563492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hyperlink" Target="https://ieeexplore.ieee.org/abstract/document/10544750/" TargetMode="External"/><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hyperlink" Target="https://ieeexplore.ieee.org/abstract/document/4600454/"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11"/>
          <p:cNvSpPr txBox="1"/>
          <p:nvPr/>
        </p:nvSpPr>
        <p:spPr>
          <a:xfrm>
            <a:off x="1514475" y="5162533"/>
            <a:ext cx="9163049" cy="1427181"/>
          </a:xfrm>
          <a:prstGeom prst="rect">
            <a:avLst/>
          </a:prstGeom>
        </p:spPr>
        <p:txBody>
          <a:bodyPr vert="horz" lIns="91440" tIns="45720" rIns="91440" bIns="45720" rtlCol="0">
            <a:normAutofit fontScale="5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endParaRPr lang="en-US" sz="3400" b="0" dirty="0"/>
          </a:p>
          <a:p>
            <a:pPr>
              <a:spcBef>
                <a:spcPts val="300"/>
              </a:spcBef>
            </a:pPr>
            <a:r>
              <a:rPr lang="en-IN" sz="2000" b="0" dirty="0"/>
              <a:t>(</a:t>
            </a:r>
            <a:r>
              <a:rPr lang="en-IN" sz="2300" b="0" dirty="0"/>
              <a:t>Affiliated to JNTUA &amp; Approved by AICTE) (Accredited by NAAC with ‘A’ Grade &amp; Accredited by NBA (EEE, ECE &amp; CSE) Rotarypuram Village, B K Samudram Mandal, Ananthapuramu – 515701.</a:t>
            </a:r>
          </a:p>
          <a:p>
            <a:pPr>
              <a:spcBef>
                <a:spcPts val="300"/>
              </a:spcBef>
            </a:pPr>
            <a:endParaRPr lang="en-IN" sz="2000" b="0" dirty="0"/>
          </a:p>
          <a:p>
            <a:pPr>
              <a:spcBef>
                <a:spcPts val="300"/>
              </a:spcBef>
            </a:pPr>
            <a:r>
              <a:rPr lang="en-US" sz="2500" dirty="0">
                <a:solidFill>
                  <a:schemeClr val="accent1">
                    <a:lumMod val="50000"/>
                  </a:schemeClr>
                </a:solidFill>
              </a:rPr>
              <a:t>2025-2026</a:t>
            </a:r>
            <a:endParaRPr lang="en-US" sz="2500" b="0" dirty="0"/>
          </a:p>
          <a:p>
            <a:endParaRPr lang="en-IN" b="0" dirty="0"/>
          </a:p>
        </p:txBody>
      </p:sp>
      <p:sp>
        <p:nvSpPr>
          <p:cNvPr id="13" name="Subtitle 11"/>
          <p:cNvSpPr txBox="1"/>
          <p:nvPr/>
        </p:nvSpPr>
        <p:spPr>
          <a:xfrm>
            <a:off x="8617598"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2600" b="0" dirty="0">
              <a:effectLst>
                <a:outerShdw blurRad="38100" dist="38100" dir="2700000" algn="tl">
                  <a:srgbClr val="000000">
                    <a:alpha val="43137"/>
                  </a:srgbClr>
                </a:outerShdw>
              </a:effectLst>
            </a:endParaRPr>
          </a:p>
        </p:txBody>
      </p:sp>
      <p:sp>
        <p:nvSpPr>
          <p:cNvPr id="14" name="Subtitle 11"/>
          <p:cNvSpPr txBox="1"/>
          <p:nvPr/>
        </p:nvSpPr>
        <p:spPr>
          <a:xfrm>
            <a:off x="1737488"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2600" b="0" dirty="0">
              <a:effectLst>
                <a:outerShdw blurRad="38100" dist="38100" dir="2700000" algn="tl">
                  <a:srgbClr val="000000">
                    <a:alpha val="43137"/>
                  </a:srgbClr>
                </a:outerShdw>
              </a:effectLst>
            </a:endParaRPr>
          </a:p>
        </p:txBody>
      </p:sp>
      <p:sp>
        <p:nvSpPr>
          <p:cNvPr id="17" name="Rectangle: Rounded Corners 16"/>
          <p:cNvSpPr/>
          <p:nvPr/>
        </p:nvSpPr>
        <p:spPr>
          <a:xfrm>
            <a:off x="831897" y="328748"/>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dirty="0"/>
              <a:t>Smart College Bus Tracking System Using Hybrid GPS and AI Chatbot</a:t>
            </a:r>
            <a:endParaRPr lang="en-IN" sz="2400" dirty="0"/>
          </a:p>
        </p:txBody>
      </p:sp>
      <p:sp>
        <p:nvSpPr>
          <p:cNvPr id="18" name="Rectangle 17"/>
          <p:cNvSpPr/>
          <p:nvPr/>
        </p:nvSpPr>
        <p:spPr>
          <a:xfrm>
            <a:off x="2714836" y="1303981"/>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sp>
        <p:nvSpPr>
          <p:cNvPr id="9" name="Subtitle 11">
            <a:extLst>
              <a:ext uri="{FF2B5EF4-FFF2-40B4-BE49-F238E27FC236}">
                <a16:creationId xmlns:a16="http://schemas.microsoft.com/office/drawing/2014/main" id="{04A56587-79A6-DCEE-A22B-FCD3B9EB37C7}"/>
              </a:ext>
            </a:extLst>
          </p:cNvPr>
          <p:cNvSpPr txBox="1"/>
          <p:nvPr/>
        </p:nvSpPr>
        <p:spPr>
          <a:xfrm>
            <a:off x="5965615" y="1630100"/>
            <a:ext cx="2627920" cy="72551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1600" b="0" dirty="0"/>
          </a:p>
        </p:txBody>
      </p:sp>
      <p:sp>
        <p:nvSpPr>
          <p:cNvPr id="2" name="TextBox 1">
            <a:extLst>
              <a:ext uri="{FF2B5EF4-FFF2-40B4-BE49-F238E27FC236}">
                <a16:creationId xmlns:a16="http://schemas.microsoft.com/office/drawing/2014/main" id="{D429619D-09F3-780E-7EEA-965AFCB0ACC9}"/>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38A0E17-78D6-9D47-0A57-AC3BB2A79621}"/>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3CBBB32-3F20-C4EA-1271-34796C33DD57}"/>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56C90BAD-7E49-D965-05FA-251CB0D61B49}"/>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01</a:t>
            </a:r>
          </a:p>
        </p:txBody>
      </p:sp>
      <p:pic>
        <p:nvPicPr>
          <p:cNvPr id="15" name="object 19">
            <a:extLst>
              <a:ext uri="{FF2B5EF4-FFF2-40B4-BE49-F238E27FC236}">
                <a16:creationId xmlns:a16="http://schemas.microsoft.com/office/drawing/2014/main" id="{F89990DA-855B-1435-A1A6-464A24537A81}"/>
              </a:ext>
            </a:extLst>
          </p:cNvPr>
          <p:cNvPicPr/>
          <p:nvPr/>
        </p:nvPicPr>
        <p:blipFill>
          <a:blip r:embed="rId3" cstate="print"/>
          <a:stretch>
            <a:fillRect/>
          </a:stretch>
        </p:blipFill>
        <p:spPr>
          <a:xfrm>
            <a:off x="5330904" y="3429000"/>
            <a:ext cx="1527378" cy="1685486"/>
          </a:xfrm>
          <a:prstGeom prst="rect">
            <a:avLst/>
          </a:prstGeom>
        </p:spPr>
      </p:pic>
      <p:sp>
        <p:nvSpPr>
          <p:cNvPr id="19" name="Subtitle 11">
            <a:extLst>
              <a:ext uri="{FF2B5EF4-FFF2-40B4-BE49-F238E27FC236}">
                <a16:creationId xmlns:a16="http://schemas.microsoft.com/office/drawing/2014/main" id="{024BC4A3-150C-F950-A170-5995E221B179}"/>
              </a:ext>
            </a:extLst>
          </p:cNvPr>
          <p:cNvSpPr txBox="1"/>
          <p:nvPr/>
        </p:nvSpPr>
        <p:spPr>
          <a:xfrm>
            <a:off x="4911213" y="1746487"/>
            <a:ext cx="2776520" cy="714495"/>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5400" b="0" dirty="0">
                <a:effectLst>
                  <a:outerShdw blurRad="38100" dist="38100" dir="2700000" algn="tl">
                    <a:srgbClr val="000000">
                      <a:alpha val="43137"/>
                    </a:srgbClr>
                  </a:outerShdw>
                </a:effectLst>
              </a:rPr>
              <a:t> </a:t>
            </a:r>
            <a:r>
              <a:rPr lang="en-IN" sz="8800" spc="-10" dirty="0">
                <a:latin typeface="Times New Roman"/>
                <a:cs typeface="Times New Roman"/>
              </a:rPr>
              <a:t>P. Md. MANSOOR</a:t>
            </a:r>
          </a:p>
          <a:p>
            <a:pPr>
              <a:spcBef>
                <a:spcPts val="300"/>
              </a:spcBef>
            </a:pPr>
            <a:r>
              <a:rPr lang="en-US" sz="4400" b="0" dirty="0"/>
              <a:t>Roll No. 224G1A0545</a:t>
            </a:r>
          </a:p>
        </p:txBody>
      </p:sp>
      <p:sp>
        <p:nvSpPr>
          <p:cNvPr id="22" name="Subtitle 11">
            <a:extLst>
              <a:ext uri="{FF2B5EF4-FFF2-40B4-BE49-F238E27FC236}">
                <a16:creationId xmlns:a16="http://schemas.microsoft.com/office/drawing/2014/main" id="{30923F7B-E955-D45A-F166-4711F590D3CD}"/>
              </a:ext>
            </a:extLst>
          </p:cNvPr>
          <p:cNvSpPr txBox="1"/>
          <p:nvPr/>
        </p:nvSpPr>
        <p:spPr>
          <a:xfrm>
            <a:off x="3840649" y="2519029"/>
            <a:ext cx="4955007"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IN" sz="2400" b="0" dirty="0">
                <a:effectLst>
                  <a:outerShdw blurRad="38100" dist="38100" dir="2700000" algn="tl">
                    <a:srgbClr val="000000">
                      <a:alpha val="43137"/>
                    </a:srgbClr>
                  </a:outerShdw>
                </a:effectLst>
              </a:rPr>
              <a:t>Dr. </a:t>
            </a:r>
            <a:r>
              <a:rPr lang="en-IN" sz="2400" spc="-10" dirty="0">
                <a:latin typeface="Times New Roman"/>
                <a:cs typeface="Times New Roman"/>
              </a:rPr>
              <a:t>S. Ravi Kumar</a:t>
            </a:r>
            <a:r>
              <a:rPr lang="en-IN" sz="2400" b="0" dirty="0">
                <a:effectLst>
                  <a:outerShdw blurRad="38100" dist="38100" dir="2700000" algn="tl">
                    <a:srgbClr val="000000">
                      <a:alpha val="43137"/>
                    </a:srgbClr>
                  </a:outerShdw>
                </a:effectLst>
              </a:rPr>
              <a:t>, </a:t>
            </a:r>
            <a:r>
              <a:rPr lang="en-IN" sz="1200" b="0" spc="-10" dirty="0">
                <a:latin typeface="Times New Roman"/>
                <a:cs typeface="Times New Roman"/>
              </a:rPr>
              <a:t>M.C.A., Ph.D. </a:t>
            </a:r>
          </a:p>
          <a:p>
            <a:pPr>
              <a:spcBef>
                <a:spcPts val="200"/>
              </a:spcBef>
            </a:pPr>
            <a:r>
              <a:rPr lang="en-IN" sz="1800" b="0" dirty="0">
                <a:effectLst>
                  <a:outerShdw blurRad="38100" dist="38100" dir="2700000" algn="tl">
                    <a:srgbClr val="000000">
                      <a:alpha val="43137"/>
                    </a:srgbClr>
                  </a:outerShdw>
                </a:effectLst>
              </a:rPr>
              <a:t>Associate Professor</a:t>
            </a:r>
            <a:endParaRPr lang="en-IN" sz="1800" b="0" dirty="0"/>
          </a:p>
        </p:txBody>
      </p:sp>
      <p:sp>
        <p:nvSpPr>
          <p:cNvPr id="23" name="Subtitle 11">
            <a:extLst>
              <a:ext uri="{FF2B5EF4-FFF2-40B4-BE49-F238E27FC236}">
                <a16:creationId xmlns:a16="http://schemas.microsoft.com/office/drawing/2014/main" id="{99233045-4088-6BEB-3146-73EDEB6020B0}"/>
              </a:ext>
            </a:extLst>
          </p:cNvPr>
          <p:cNvSpPr txBox="1"/>
          <p:nvPr/>
        </p:nvSpPr>
        <p:spPr>
          <a:xfrm>
            <a:off x="8199728" y="1713271"/>
            <a:ext cx="2888909" cy="584534"/>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5500" dirty="0"/>
              <a:t>G. SRAVANI</a:t>
            </a:r>
          </a:p>
          <a:p>
            <a:pPr>
              <a:spcBef>
                <a:spcPts val="300"/>
              </a:spcBef>
            </a:pPr>
            <a:r>
              <a:rPr lang="en-US" sz="2300" b="0" dirty="0"/>
              <a:t>Roll No. 224G5A05A3</a:t>
            </a:r>
          </a:p>
        </p:txBody>
      </p:sp>
      <p:sp>
        <p:nvSpPr>
          <p:cNvPr id="24" name="Subtitle 11">
            <a:extLst>
              <a:ext uri="{FF2B5EF4-FFF2-40B4-BE49-F238E27FC236}">
                <a16:creationId xmlns:a16="http://schemas.microsoft.com/office/drawing/2014/main" id="{6524D7B0-66B9-5598-DE0E-277BD63E53DE}"/>
              </a:ext>
            </a:extLst>
          </p:cNvPr>
          <p:cNvSpPr txBox="1"/>
          <p:nvPr/>
        </p:nvSpPr>
        <p:spPr>
          <a:xfrm>
            <a:off x="831897" y="1695080"/>
            <a:ext cx="4079316" cy="595551"/>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2380"/>
              </a:lnSpc>
              <a:spcBef>
                <a:spcPts val="115"/>
              </a:spcBef>
            </a:pPr>
            <a:r>
              <a:rPr lang="en-IN" sz="8800" dirty="0">
                <a:latin typeface="Times New Roman"/>
                <a:cs typeface="Times New Roman"/>
              </a:rPr>
              <a:t>R.ARUN KUMAR NAIK</a:t>
            </a:r>
          </a:p>
          <a:p>
            <a:pPr>
              <a:lnSpc>
                <a:spcPct val="120000"/>
              </a:lnSpc>
              <a:spcBef>
                <a:spcPts val="115"/>
              </a:spcBef>
            </a:pPr>
            <a:r>
              <a:rPr lang="en-IN" sz="4400" b="0" dirty="0">
                <a:latin typeface="Times New Roman"/>
                <a:cs typeface="Times New Roman"/>
              </a:rPr>
              <a:t>Roll</a:t>
            </a:r>
            <a:r>
              <a:rPr lang="en-IN" sz="4400" b="0" spc="40" dirty="0">
                <a:latin typeface="Times New Roman"/>
                <a:cs typeface="Times New Roman"/>
              </a:rPr>
              <a:t> </a:t>
            </a:r>
            <a:r>
              <a:rPr lang="en-IN" sz="4400" b="0" dirty="0">
                <a:latin typeface="Times New Roman"/>
                <a:cs typeface="Times New Roman"/>
              </a:rPr>
              <a:t>No.</a:t>
            </a:r>
            <a:r>
              <a:rPr lang="en-IN" sz="4400" b="0" spc="40" dirty="0">
                <a:latin typeface="Times New Roman"/>
                <a:cs typeface="Times New Roman"/>
              </a:rPr>
              <a:t> </a:t>
            </a:r>
            <a:r>
              <a:rPr lang="en-IN" sz="4400" b="0" spc="-10" dirty="0">
                <a:latin typeface="Times New Roman"/>
                <a:cs typeface="Times New Roman"/>
              </a:rPr>
              <a:t>224G1A0507 </a:t>
            </a:r>
            <a:endParaRPr lang="en-IN" sz="4400" b="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B6763-B2A1-8BF9-AA55-65B939CA531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4C2D960-7553-39CB-22B5-9CEB4C3A5166}"/>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9C74C0B-82B1-C080-661A-99714B1C068C}"/>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46B4EA8-A61C-DDE2-235C-6BAF76E7B462}"/>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B2CE431-9087-C25C-F7FD-23F6F262C481}"/>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A23EB1F-302D-FBE9-9217-3CC3557AF444}"/>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03</a:t>
            </a:r>
          </a:p>
        </p:txBody>
      </p:sp>
      <p:sp>
        <p:nvSpPr>
          <p:cNvPr id="16" name="TextBox 15">
            <a:extLst>
              <a:ext uri="{FF2B5EF4-FFF2-40B4-BE49-F238E27FC236}">
                <a16:creationId xmlns:a16="http://schemas.microsoft.com/office/drawing/2014/main" id="{5356D09B-5C60-8305-454D-9414CDC195DE}"/>
              </a:ext>
            </a:extLst>
          </p:cNvPr>
          <p:cNvSpPr txBox="1"/>
          <p:nvPr/>
        </p:nvSpPr>
        <p:spPr>
          <a:xfrm>
            <a:off x="304800" y="409825"/>
            <a:ext cx="7315200" cy="707886"/>
          </a:xfrm>
          <a:prstGeom prst="rect">
            <a:avLst/>
          </a:prstGeom>
          <a:noFill/>
        </p:spPr>
        <p:txBody>
          <a:bodyPr wrap="square" rtlCol="0">
            <a:spAutoFit/>
          </a:bodyPr>
          <a:lstStyle/>
          <a:p>
            <a:r>
              <a:rPr lang="en-IN" sz="4000" dirty="0">
                <a:solidFill>
                  <a:schemeClr val="bg1"/>
                </a:solidFill>
                <a:latin typeface="Times New Roman" panose="02020603050405020304" pitchFamily="18" charset="0"/>
                <a:cs typeface="Times New Roman" panose="02020603050405020304" pitchFamily="18" charset="0"/>
              </a:rPr>
              <a:t>Contents</a:t>
            </a:r>
          </a:p>
        </p:txBody>
      </p:sp>
      <p:sp>
        <p:nvSpPr>
          <p:cNvPr id="20" name="TextBox 19">
            <a:extLst>
              <a:ext uri="{FF2B5EF4-FFF2-40B4-BE49-F238E27FC236}">
                <a16:creationId xmlns:a16="http://schemas.microsoft.com/office/drawing/2014/main" id="{43587588-20A2-72BD-5959-4D871FD5EFE2}"/>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sp>
        <p:nvSpPr>
          <p:cNvPr id="21" name="TextBox 20">
            <a:extLst>
              <a:ext uri="{FF2B5EF4-FFF2-40B4-BE49-F238E27FC236}">
                <a16:creationId xmlns:a16="http://schemas.microsoft.com/office/drawing/2014/main" id="{75AD3071-C62A-A5E3-BE52-8F1D1C680D6F}"/>
              </a:ext>
            </a:extLst>
          </p:cNvPr>
          <p:cNvSpPr txBox="1"/>
          <p:nvPr/>
        </p:nvSpPr>
        <p:spPr>
          <a:xfrm>
            <a:off x="152400" y="1295400"/>
            <a:ext cx="11430000" cy="5261953"/>
          </a:xfrm>
          <a:prstGeom prst="rect">
            <a:avLst/>
          </a:prstGeom>
          <a:noFill/>
        </p:spPr>
        <p:txBody>
          <a:bodyPr wrap="square" rtlCol="0">
            <a:spAutoFit/>
          </a:bodyPr>
          <a:lstStyle/>
          <a:p>
            <a:pPr marL="462280" lvl="0" indent="-462280" algn="just">
              <a:lnSpc>
                <a:spcPct val="90000"/>
              </a:lnSpc>
              <a:buClr>
                <a:schemeClr val="dk1"/>
              </a:buClr>
              <a:buSzPts val="2800"/>
              <a:buChar char="•"/>
            </a:pPr>
            <a:r>
              <a:rPr lang="en-US" sz="2800" dirty="0">
                <a:latin typeface="Times New Roman" panose="02020603050405020304" pitchFamily="18" charset="0"/>
                <a:ea typeface="Verdana" panose="020B0604030504040204" pitchFamily="34" charset="0"/>
                <a:cs typeface="Times New Roman" panose="02020603050405020304" pitchFamily="18" charset="0"/>
              </a:rPr>
              <a:t>Abstract</a:t>
            </a:r>
          </a:p>
          <a:p>
            <a:pPr marL="462280" lvl="0" indent="-462280" algn="just">
              <a:lnSpc>
                <a:spcPct val="90000"/>
              </a:lnSpc>
              <a:buClr>
                <a:schemeClr val="dk1"/>
              </a:buClr>
              <a:buSzPts val="2800"/>
              <a:buChar char="•"/>
            </a:pPr>
            <a:r>
              <a:rPr lang="en-US" sz="2800" dirty="0">
                <a:latin typeface="Times New Roman" panose="02020603050405020304" pitchFamily="18" charset="0"/>
                <a:ea typeface="Verdana" panose="020B0604030504040204" pitchFamily="34" charset="0"/>
                <a:cs typeface="Times New Roman" panose="02020603050405020304" pitchFamily="18" charset="0"/>
              </a:rPr>
              <a:t>Introduction</a:t>
            </a:r>
          </a:p>
          <a:p>
            <a:pPr marL="462280" indent="-462280">
              <a:buFont typeface="Arial" panose="020B0604020202020204" pitchFamily="34" charset="0"/>
              <a:buChar char="•"/>
            </a:pPr>
            <a:r>
              <a:rPr lang="en-US" altLang="en-IN" sz="2800" dirty="0">
                <a:latin typeface="Times New Roman" panose="02020603050405020304" pitchFamily="18" charset="0"/>
                <a:ea typeface="Verdana" panose="020B0604030504040204" pitchFamily="34" charset="0"/>
                <a:cs typeface="Times New Roman" panose="02020603050405020304" pitchFamily="18" charset="0"/>
              </a:rPr>
              <a:t>Literature Survey</a:t>
            </a:r>
          </a:p>
          <a:p>
            <a:pPr marL="462280" indent="-462280">
              <a:buFont typeface="Arial" panose="020B0604020202020204" pitchFamily="34" charset="0"/>
              <a:buChar char="•"/>
            </a:pPr>
            <a:r>
              <a:rPr lang="en-US" sz="2800" dirty="0">
                <a:latin typeface="Times New Roman" panose="02020603050405020304" pitchFamily="18" charset="0"/>
                <a:ea typeface="Verdana" panose="020B0604030504040204" pitchFamily="34" charset="0"/>
                <a:cs typeface="Times New Roman" panose="02020603050405020304" pitchFamily="18" charset="0"/>
              </a:rPr>
              <a:t>Existing System</a:t>
            </a:r>
          </a:p>
          <a:p>
            <a:pPr marL="462280" indent="-462280">
              <a:buFont typeface="Arial" panose="020B0604020202020204" pitchFamily="34" charset="0"/>
              <a:buChar char="•"/>
            </a:pPr>
            <a:r>
              <a:rPr lang="en-US" sz="2800" dirty="0">
                <a:latin typeface="Times New Roman" panose="02020603050405020304" pitchFamily="18" charset="0"/>
                <a:ea typeface="Verdana" panose="020B0604030504040204" pitchFamily="34" charset="0"/>
                <a:cs typeface="Times New Roman" panose="02020603050405020304" pitchFamily="18" charset="0"/>
              </a:rPr>
              <a:t>Proposed System</a:t>
            </a:r>
          </a:p>
          <a:p>
            <a:pPr marL="462280" indent="-462280">
              <a:buFont typeface="Arial" panose="020B0604020202020204" pitchFamily="34" charset="0"/>
              <a:buChar char="•"/>
            </a:pPr>
            <a:r>
              <a:rPr lang="en-US" sz="2800" dirty="0">
                <a:latin typeface="Times New Roman" panose="02020603050405020304" pitchFamily="18" charset="0"/>
                <a:ea typeface="Verdana" panose="020B0604030504040204" pitchFamily="34" charset="0"/>
                <a:cs typeface="Times New Roman" panose="02020603050405020304" pitchFamily="18" charset="0"/>
              </a:rPr>
              <a:t>Planning</a:t>
            </a:r>
          </a:p>
          <a:p>
            <a:pPr marL="462280" indent="-462280">
              <a:buFont typeface="Arial" panose="020B0604020202020204" pitchFamily="34" charset="0"/>
              <a:buChar char="•"/>
            </a:pPr>
            <a:r>
              <a:rPr lang="en-US" sz="2800" dirty="0">
                <a:latin typeface="Times New Roman" panose="02020603050405020304" pitchFamily="18" charset="0"/>
                <a:ea typeface="Verdana" panose="020B0604030504040204" pitchFamily="34" charset="0"/>
                <a:cs typeface="Times New Roman" panose="02020603050405020304" pitchFamily="18" charset="0"/>
              </a:rPr>
              <a:t>Design</a:t>
            </a:r>
          </a:p>
          <a:p>
            <a:pPr marL="462280" indent="-462280">
              <a:buFont typeface="Arial" panose="020B0604020202020204" pitchFamily="34" charset="0"/>
              <a:buChar char="•"/>
            </a:pPr>
            <a:r>
              <a:rPr lang="en-US" sz="2800" dirty="0">
                <a:latin typeface="Times New Roman" panose="02020603050405020304" pitchFamily="18" charset="0"/>
                <a:ea typeface="Verdana" panose="020B0604030504040204" pitchFamily="34" charset="0"/>
                <a:cs typeface="Times New Roman" panose="02020603050405020304" pitchFamily="18" charset="0"/>
              </a:rPr>
              <a:t>Implementation</a:t>
            </a:r>
          </a:p>
          <a:p>
            <a:pPr marL="462280" indent="-462280">
              <a:buFont typeface="Arial" panose="020B0604020202020204" pitchFamily="34" charset="0"/>
              <a:buChar char="•"/>
            </a:pPr>
            <a:r>
              <a:rPr lang="en-US" sz="2800" dirty="0">
                <a:latin typeface="Times New Roman" panose="02020603050405020304" pitchFamily="18" charset="0"/>
                <a:ea typeface="Verdana" panose="020B0604030504040204" pitchFamily="34" charset="0"/>
                <a:cs typeface="Times New Roman" panose="02020603050405020304" pitchFamily="18" charset="0"/>
              </a:rPr>
              <a:t>Research Paper</a:t>
            </a:r>
            <a:endParaRPr lang="en-IN" sz="2800" dirty="0">
              <a:latin typeface="Times New Roman" panose="02020603050405020304" pitchFamily="18" charset="0"/>
              <a:ea typeface="Verdana" panose="020B0604030504040204" pitchFamily="34" charset="0"/>
              <a:cs typeface="Times New Roman" panose="02020603050405020304" pitchFamily="18" charset="0"/>
            </a:endParaRPr>
          </a:p>
          <a:p>
            <a:pPr marL="462280" indent="-462280">
              <a:buFont typeface="Arial" panose="020B0604020202020204" pitchFamily="34" charset="0"/>
              <a:buChar char="•"/>
            </a:pPr>
            <a:r>
              <a:rPr lang="en-IN" sz="2800" dirty="0">
                <a:latin typeface="Times New Roman" panose="02020603050405020304" pitchFamily="18" charset="0"/>
                <a:ea typeface="Verdana" panose="020B0604030504040204" pitchFamily="34" charset="0"/>
                <a:cs typeface="Times New Roman" panose="02020603050405020304" pitchFamily="18" charset="0"/>
              </a:rPr>
              <a:t>References</a:t>
            </a:r>
          </a:p>
          <a:p>
            <a:pPr marL="462280" indent="-462280">
              <a:buFont typeface="Arial" panose="020B0604020202020204" pitchFamily="34" charset="0"/>
              <a:buChar char="•"/>
            </a:pPr>
            <a:r>
              <a:rPr lang="en-IN" sz="2800" dirty="0">
                <a:latin typeface="Times New Roman" panose="02020603050405020304" pitchFamily="18" charset="0"/>
                <a:ea typeface="Verdana" panose="020B0604030504040204" pitchFamily="34" charset="0"/>
                <a:cs typeface="Times New Roman" panose="02020603050405020304" pitchFamily="18" charset="0"/>
              </a:rPr>
              <a:t>GitHub Link</a:t>
            </a:r>
            <a:endParaRPr lang="en-US" sz="2800" dirty="0">
              <a:latin typeface="Times New Roman" panose="02020603050405020304" pitchFamily="18" charset="0"/>
              <a:ea typeface="Verdana" panose="020B0604030504040204" pitchFamily="34" charset="0"/>
              <a:cs typeface="Times New Roman" panose="02020603050405020304" pitchFamily="18" charset="0"/>
            </a:endParaRPr>
          </a:p>
          <a:p>
            <a:pPr marL="462280" lvl="0" indent="-462280" algn="just">
              <a:lnSpc>
                <a:spcPct val="90000"/>
              </a:lnSpc>
              <a:spcBef>
                <a:spcPts val="1000"/>
              </a:spcBef>
              <a:buClr>
                <a:schemeClr val="dk1"/>
              </a:buClr>
              <a:buSzPts val="2800"/>
              <a:buChar char="•"/>
            </a:pPr>
            <a:endParaRPr lang="en-US" sz="2800"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216668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A5DE1-A732-1C6F-F420-E0ABD25D0F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E5B0B5B-F86C-722E-B13C-39A03A8108A4}"/>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65AF5E7-D309-9305-5795-61CA3367A99E}"/>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5386087-AA3B-8C77-D503-3E5C7E42D453}"/>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E14A66B-8779-1A43-26FB-747F8BC1CABC}"/>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C67DE36-41A8-4844-0A71-29B860450370}"/>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04</a:t>
            </a:r>
          </a:p>
        </p:txBody>
      </p:sp>
      <p:sp>
        <p:nvSpPr>
          <p:cNvPr id="16" name="TextBox 15">
            <a:extLst>
              <a:ext uri="{FF2B5EF4-FFF2-40B4-BE49-F238E27FC236}">
                <a16:creationId xmlns:a16="http://schemas.microsoft.com/office/drawing/2014/main" id="{C88F3F16-A834-03C5-EEF4-0BB436184D88}"/>
              </a:ext>
            </a:extLst>
          </p:cNvPr>
          <p:cNvSpPr txBox="1"/>
          <p:nvPr/>
        </p:nvSpPr>
        <p:spPr>
          <a:xfrm>
            <a:off x="304800" y="409825"/>
            <a:ext cx="7315200" cy="769441"/>
          </a:xfrm>
          <a:prstGeom prst="rect">
            <a:avLst/>
          </a:prstGeom>
          <a:noFill/>
        </p:spPr>
        <p:txBody>
          <a:bodyPr wrap="square" rtlCol="0">
            <a:spAutoFit/>
          </a:bodyPr>
          <a:lstStyle/>
          <a:p>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Abstract</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D61D448-468B-5674-D714-E40EC5DC9E67}"/>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sp>
        <p:nvSpPr>
          <p:cNvPr id="7" name="TextBox 6">
            <a:extLst>
              <a:ext uri="{FF2B5EF4-FFF2-40B4-BE49-F238E27FC236}">
                <a16:creationId xmlns:a16="http://schemas.microsoft.com/office/drawing/2014/main" id="{1FD2DFDC-755A-0DFF-79A3-B41CDCE907B2}"/>
              </a:ext>
            </a:extLst>
          </p:cNvPr>
          <p:cNvSpPr txBox="1"/>
          <p:nvPr/>
        </p:nvSpPr>
        <p:spPr>
          <a:xfrm>
            <a:off x="152400" y="1191188"/>
            <a:ext cx="11606777" cy="5355312"/>
          </a:xfrm>
          <a:prstGeom prst="rect">
            <a:avLst/>
          </a:prstGeom>
          <a:noFill/>
        </p:spPr>
        <p:txBody>
          <a:bodyPr wrap="square">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project presents a </a:t>
            </a:r>
            <a:r>
              <a:rPr lang="en-US" b="1" dirty="0">
                <a:latin typeface="Times New Roman" panose="02020603050405020304" pitchFamily="18" charset="0"/>
                <a:cs typeface="Times New Roman" panose="02020603050405020304" pitchFamily="18" charset="0"/>
              </a:rPr>
              <a:t>Smart College Bus Tracking System</a:t>
            </a:r>
            <a:r>
              <a:rPr lang="en-US" dirty="0">
                <a:latin typeface="Times New Roman" panose="02020603050405020304" pitchFamily="18" charset="0"/>
                <a:cs typeface="Times New Roman" panose="02020603050405020304" pitchFamily="18" charset="0"/>
              </a:rPr>
              <a:t> designed to provide reliable real-time bus location information using a </a:t>
            </a:r>
            <a:r>
              <a:rPr lang="en-US" b="1" dirty="0">
                <a:latin typeface="Times New Roman" panose="02020603050405020304" pitchFamily="18" charset="0"/>
                <a:cs typeface="Times New Roman" panose="02020603050405020304" pitchFamily="18" charset="0"/>
              </a:rPr>
              <a:t>hybrid GPS approach and AI-based communication</a:t>
            </a:r>
            <a:r>
              <a:rPr lang="en-US" dirty="0">
                <a:latin typeface="Times New Roman" panose="02020603050405020304" pitchFamily="18" charset="0"/>
                <a:cs typeface="Times New Roman" panose="02020603050405020304" pitchFamily="18" charset="0"/>
              </a:rPr>
              <a:t>. Traditional bus tracking systems either rely on costly GPS hardware or manual communication methods, which often lead to interruptions and inconvenience. To overcome these limitations, the proposed system combines </a:t>
            </a:r>
            <a:r>
              <a:rPr lang="en-US" b="1" dirty="0">
                <a:latin typeface="Times New Roman" panose="02020603050405020304" pitchFamily="18" charset="0"/>
                <a:cs typeface="Times New Roman" panose="02020603050405020304" pitchFamily="18" charset="0"/>
              </a:rPr>
              <a:t>mobile-based GPS tracking with a dedicated GPS tracking device</a:t>
            </a:r>
            <a:r>
              <a:rPr lang="en-US" dirty="0">
                <a:latin typeface="Times New Roman" panose="02020603050405020304" pitchFamily="18" charset="0"/>
                <a:cs typeface="Times New Roman" panose="02020603050405020304" pitchFamily="18" charset="0"/>
              </a:rPr>
              <a:t>, ensuring uninterrupted and accurate bus location updates.</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is developed with three main modules: </a:t>
            </a:r>
            <a:r>
              <a:rPr lang="en-US" b="1" dirty="0">
                <a:latin typeface="Times New Roman" panose="02020603050405020304" pitchFamily="18" charset="0"/>
                <a:cs typeface="Times New Roman" panose="02020603050405020304" pitchFamily="18" charset="0"/>
              </a:rPr>
              <a:t>Admin, Driver, and Student</a:t>
            </a:r>
            <a:r>
              <a:rPr lang="en-US" dirty="0">
                <a:latin typeface="Times New Roman" panose="02020603050405020304" pitchFamily="18" charset="0"/>
                <a:cs typeface="Times New Roman" panose="02020603050405020304" pitchFamily="18" charset="0"/>
              </a:rPr>
              <a:t>. The </a:t>
            </a:r>
            <a:r>
              <a:rPr lang="en-US" b="1" dirty="0">
                <a:latin typeface="Times New Roman" panose="02020603050405020304" pitchFamily="18" charset="0"/>
                <a:cs typeface="Times New Roman" panose="02020603050405020304" pitchFamily="18" charset="0"/>
              </a:rPr>
              <a:t>Admin module</a:t>
            </a:r>
            <a:r>
              <a:rPr lang="en-US" dirty="0">
                <a:latin typeface="Times New Roman" panose="02020603050405020304" pitchFamily="18" charset="0"/>
                <a:cs typeface="Times New Roman" panose="02020603050405020304" pitchFamily="18" charset="0"/>
              </a:rPr>
              <a:t> allows administrators to manage buses, drivers, students, routes, and complaints through a centralized platform. The </a:t>
            </a:r>
            <a:r>
              <a:rPr lang="en-US" b="1" dirty="0">
                <a:latin typeface="Times New Roman" panose="02020603050405020304" pitchFamily="18" charset="0"/>
                <a:cs typeface="Times New Roman" panose="02020603050405020304" pitchFamily="18" charset="0"/>
              </a:rPr>
              <a:t>Driver module</a:t>
            </a:r>
            <a:r>
              <a:rPr lang="en-US" dirty="0">
                <a:latin typeface="Times New Roman" panose="02020603050405020304" pitchFamily="18" charset="0"/>
                <a:cs typeface="Times New Roman" panose="02020603050405020304" pitchFamily="18" charset="0"/>
              </a:rPr>
              <a:t> enables drivers to update live bus locations using a mobile application, while the GPS device acts as a backup source for continuous tracking. The </a:t>
            </a:r>
            <a:r>
              <a:rPr lang="en-US" b="1" dirty="0">
                <a:latin typeface="Times New Roman" panose="02020603050405020304" pitchFamily="18" charset="0"/>
                <a:cs typeface="Times New Roman" panose="02020603050405020304" pitchFamily="18" charset="0"/>
              </a:rPr>
              <a:t>Student module</a:t>
            </a:r>
            <a:r>
              <a:rPr lang="en-US" dirty="0">
                <a:latin typeface="Times New Roman" panose="02020603050405020304" pitchFamily="18" charset="0"/>
                <a:cs typeface="Times New Roman" panose="02020603050405020304" pitchFamily="18" charset="0"/>
              </a:rPr>
              <a:t> provides real-time bus tracking, estimated arrival time (ETA), stop-based alerts, route details, and complaint submission through a web or mobile interface.</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enhance communication, an </a:t>
            </a:r>
            <a:r>
              <a:rPr lang="en-US" b="1" dirty="0">
                <a:latin typeface="Times New Roman" panose="02020603050405020304" pitchFamily="18" charset="0"/>
                <a:cs typeface="Times New Roman" panose="02020603050405020304" pitchFamily="18" charset="0"/>
              </a:rPr>
              <a:t>AI chatbot</a:t>
            </a:r>
            <a:r>
              <a:rPr lang="en-US" dirty="0">
                <a:latin typeface="Times New Roman" panose="02020603050405020304" pitchFamily="18" charset="0"/>
                <a:cs typeface="Times New Roman" panose="02020603050405020304" pitchFamily="18" charset="0"/>
              </a:rPr>
              <a:t> is integrated into the system, enabling students to instantly query bus location, arrival time, and other transportation-related information without manual intervention. This reduces dependency on phone calls or messaging applications and improves response time.</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Overall, the proposed system improves transportation reliability, reduces waiting time, enhances user convenience, and ensures effective communication. By using cloud computing, hybrid GPS tracking, and AI-based interaction, the system offers a smart, scalable, and cost-effective solution for college transportation management.</a:t>
            </a:r>
          </a:p>
        </p:txBody>
      </p:sp>
    </p:spTree>
    <p:extLst>
      <p:ext uri="{BB962C8B-B14F-4D97-AF65-F5344CB8AC3E}">
        <p14:creationId xmlns:p14="http://schemas.microsoft.com/office/powerpoint/2010/main" val="4109710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6B871-CA1E-4A1C-88AE-2D75C8B8683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D00B486-26E2-2550-06AB-20F80D5D8D64}"/>
              </a:ext>
            </a:extLst>
          </p:cNvPr>
          <p:cNvSpPr/>
          <p:nvPr/>
        </p:nvSpPr>
        <p:spPr>
          <a:xfrm>
            <a:off x="0" y="228599"/>
            <a:ext cx="12155027" cy="870769"/>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FCD6390-E63F-32A4-A6FA-B50A338BFC72}"/>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F69A4FE-E0D5-D0DC-2FBC-3EC16C2DBC92}"/>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0F3F3F1-0E86-E505-5894-8119FD75C4C7}"/>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B5D450F-79CA-B5DB-9760-3C26E2548017}"/>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05</a:t>
            </a:r>
          </a:p>
        </p:txBody>
      </p:sp>
      <p:sp>
        <p:nvSpPr>
          <p:cNvPr id="16" name="TextBox 15">
            <a:extLst>
              <a:ext uri="{FF2B5EF4-FFF2-40B4-BE49-F238E27FC236}">
                <a16:creationId xmlns:a16="http://schemas.microsoft.com/office/drawing/2014/main" id="{B60E1A02-4B63-41C6-4DCC-AE922889FC27}"/>
              </a:ext>
            </a:extLst>
          </p:cNvPr>
          <p:cNvSpPr txBox="1"/>
          <p:nvPr/>
        </p:nvSpPr>
        <p:spPr>
          <a:xfrm>
            <a:off x="304800" y="409825"/>
            <a:ext cx="7315200" cy="769441"/>
          </a:xfrm>
          <a:prstGeom prst="rect">
            <a:avLst/>
          </a:prstGeom>
          <a:noFill/>
        </p:spPr>
        <p:txBody>
          <a:bodyPr wrap="square" rtlCol="0">
            <a:spAutoFit/>
          </a:bodyPr>
          <a:lstStyle/>
          <a:p>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Introduction</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E01B672-65A8-C080-1158-53A7475225DF}"/>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sp>
        <p:nvSpPr>
          <p:cNvPr id="21" name="TextBox 20">
            <a:extLst>
              <a:ext uri="{FF2B5EF4-FFF2-40B4-BE49-F238E27FC236}">
                <a16:creationId xmlns:a16="http://schemas.microsoft.com/office/drawing/2014/main" id="{66040105-609C-4A8C-F67F-A32087CC7439}"/>
              </a:ext>
            </a:extLst>
          </p:cNvPr>
          <p:cNvSpPr txBox="1"/>
          <p:nvPr/>
        </p:nvSpPr>
        <p:spPr>
          <a:xfrm>
            <a:off x="100577" y="1099369"/>
            <a:ext cx="11887200" cy="5678478"/>
          </a:xfrm>
          <a:prstGeom prst="rect">
            <a:avLst/>
          </a:prstGeom>
          <a:noFill/>
        </p:spPr>
        <p:txBody>
          <a:bodyPr wrap="square" rtlCol="0">
            <a:spAutoFit/>
          </a:bodyPr>
          <a:lstStyle/>
          <a:p>
            <a:pPr marL="457200" indent="-457200" algn="just">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a:t>
            </a:r>
            <a:r>
              <a:rPr lang="en-US" sz="2100" b="1" dirty="0">
                <a:latin typeface="Times New Roman" panose="02020603050405020304" pitchFamily="18" charset="0"/>
                <a:cs typeface="Times New Roman" panose="02020603050405020304" pitchFamily="18" charset="0"/>
              </a:rPr>
              <a:t>Smart College Bus Tracking System using Hybrid GPS &amp; AI Chatbot</a:t>
            </a:r>
            <a:r>
              <a:rPr lang="en-US" sz="2100" dirty="0">
                <a:latin typeface="Times New Roman" panose="02020603050405020304" pitchFamily="18" charset="0"/>
                <a:cs typeface="Times New Roman" panose="02020603050405020304" pitchFamily="18" charset="0"/>
              </a:rPr>
              <a:t> is a web-based and IoT-integrated platform designed to manage and monitor college transportation digitally. It allows administrators to manage buses, drivers, and routes, monitor real-time bus locations, and handle complaints, while students can track buses live, view estimated arrival times, and receive updates. Drivers can update trip status and share live location through the connected GPS device. The system ensures better coordination, transparency, and efficient transportation management.</a:t>
            </a:r>
          </a:p>
          <a:p>
            <a:pPr algn="just"/>
            <a:endParaRPr lang="en-US" sz="21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This project addresses common transportation problems such as lack of real-time tracking, uncertainty in bus arrival times, poor communication between students and drivers, and difficulty in managing routes manually. Traditional methods often lead to confusion, delays, and inconvenience for students and administrators.</a:t>
            </a:r>
          </a:p>
          <a:p>
            <a:pPr marL="457200" indent="-457200" algn="just">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This project is chosen to solve the challenges faced in managing college bus systems using manual methods such as phone calls, notice boards, or unorganized tracking. Without a centralized system, monitoring buses, handling complaints, and providing live updates becomes inefficient. Our system provides a smart, centralized, and technology-driven</a:t>
            </a:r>
            <a:r>
              <a:rPr lang="en-US" sz="2400" dirty="0">
                <a:latin typeface="Times New Roman" panose="02020603050405020304" pitchFamily="18" charset="0"/>
                <a:cs typeface="Times New Roman" panose="02020603050405020304" pitchFamily="18" charset="0"/>
              </a:rPr>
              <a:t> solution.</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8854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A7939-BD59-29F2-84D0-A5C57644882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45BF57-1113-19FC-DF2A-3D8DBE683709}"/>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770F1E4-7F59-F59D-176F-3A5063E0E655}"/>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8EC6AE4-ACE3-4D0B-AA99-05145579BB54}"/>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A79681A-9F71-03F5-44D2-6DE1B14709F9}"/>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411E0949-0F2C-0AEE-365D-FF86705CCF24}"/>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06</a:t>
            </a:r>
          </a:p>
        </p:txBody>
      </p:sp>
      <p:sp>
        <p:nvSpPr>
          <p:cNvPr id="16" name="TextBox 15">
            <a:extLst>
              <a:ext uri="{FF2B5EF4-FFF2-40B4-BE49-F238E27FC236}">
                <a16:creationId xmlns:a16="http://schemas.microsoft.com/office/drawing/2014/main" id="{69CA9AA0-F742-7169-8320-19996CD211F5}"/>
              </a:ext>
            </a:extLst>
          </p:cNvPr>
          <p:cNvSpPr txBox="1"/>
          <p:nvPr/>
        </p:nvSpPr>
        <p:spPr>
          <a:xfrm>
            <a:off x="304800" y="409825"/>
            <a:ext cx="7315200" cy="1384995"/>
          </a:xfrm>
          <a:prstGeom prst="rect">
            <a:avLst/>
          </a:prstGeom>
          <a:noFill/>
        </p:spPr>
        <p:txBody>
          <a:bodyPr wrap="square" rtlCol="0">
            <a:spAutoFit/>
          </a:bodyPr>
          <a:lstStyle/>
          <a:p>
            <a:r>
              <a:rPr lang="en-US" sz="4400" kern="0" dirty="0">
                <a:solidFill>
                  <a:prstClr val="white"/>
                </a:solidFill>
                <a:latin typeface="Times New Roman" panose="02020603050405020304"/>
                <a:cs typeface="Times New Roman" panose="02020603050405020304"/>
                <a:sym typeface="+mn-ea"/>
              </a:rPr>
              <a:t>Literature Survey</a:t>
            </a:r>
            <a:endParaRPr lang="en-IN" sz="4400" dirty="0">
              <a:solidFill>
                <a:schemeClr val="bg1"/>
              </a:solidFill>
              <a:latin typeface="Times New Roman" panose="02020603050405020304" pitchFamily="18" charset="0"/>
              <a:cs typeface="Times New Roman" panose="02020603050405020304" pitchFamily="18" charset="0"/>
            </a:endParaRPr>
          </a:p>
          <a:p>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C6723324-F584-9B5B-CE51-C2EF8EFD8C48}"/>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sp>
        <p:nvSpPr>
          <p:cNvPr id="7" name="TextBox 6">
            <a:extLst>
              <a:ext uri="{FF2B5EF4-FFF2-40B4-BE49-F238E27FC236}">
                <a16:creationId xmlns:a16="http://schemas.microsoft.com/office/drawing/2014/main" id="{BCCDFAB1-6539-9030-0A2F-4A3223C307F0}"/>
              </a:ext>
            </a:extLst>
          </p:cNvPr>
          <p:cNvSpPr txBox="1"/>
          <p:nvPr/>
        </p:nvSpPr>
        <p:spPr>
          <a:xfrm>
            <a:off x="152400" y="1299411"/>
            <a:ext cx="11847095" cy="369332"/>
          </a:xfrm>
          <a:prstGeom prst="rect">
            <a:avLst/>
          </a:prstGeom>
          <a:noFill/>
        </p:spPr>
        <p:txBody>
          <a:bodyPr wrap="square" rtlCol="0">
            <a:spAutoFit/>
          </a:bodyPr>
          <a:lstStyle/>
          <a:p>
            <a:pPr>
              <a:buNone/>
            </a:pPr>
            <a:endParaRPr lang="en-US" dirty="0"/>
          </a:p>
        </p:txBody>
      </p:sp>
      <p:sp>
        <p:nvSpPr>
          <p:cNvPr id="14" name="TextBox 13">
            <a:extLst>
              <a:ext uri="{FF2B5EF4-FFF2-40B4-BE49-F238E27FC236}">
                <a16:creationId xmlns:a16="http://schemas.microsoft.com/office/drawing/2014/main" id="{3588E96D-8686-6BF0-0438-41366BF6DE71}"/>
              </a:ext>
            </a:extLst>
          </p:cNvPr>
          <p:cNvSpPr txBox="1"/>
          <p:nvPr/>
        </p:nvSpPr>
        <p:spPr>
          <a:xfrm>
            <a:off x="192505" y="982943"/>
            <a:ext cx="11959390" cy="5632311"/>
          </a:xfrm>
          <a:prstGeom prst="rect">
            <a:avLst/>
          </a:prstGeom>
          <a:noFill/>
        </p:spPr>
        <p:txBody>
          <a:bodyPr wrap="square" rtlCol="0">
            <a:spAutoFit/>
          </a:bodyPr>
          <a:lstStyle/>
          <a:p>
            <a:pPr algn="just">
              <a:buNone/>
            </a:pPr>
            <a:r>
              <a:rPr lang="en-US" b="1" dirty="0">
                <a:latin typeface="Times New Roman" panose="02020603050405020304" pitchFamily="18" charset="0"/>
                <a:cs typeface="Times New Roman" panose="02020603050405020304" pitchFamily="18" charset="0"/>
              </a:rPr>
              <a:t>Objective : To implement real-time bus tracking using mobile GPS and live map visualization</a:t>
            </a:r>
          </a:p>
          <a:p>
            <a:pPr algn="just">
              <a:buNone/>
            </a:pPr>
            <a:r>
              <a:rPr lang="en-US" dirty="0">
                <a:latin typeface="Times New Roman" panose="02020603050405020304" pitchFamily="18" charset="0"/>
                <a:cs typeface="Times New Roman" panose="02020603050405020304" pitchFamily="18" charset="0"/>
              </a:rPr>
              <a:t>Real-time vehicle tracking has been widely explored using GPS hardware and mapping APIs such as Google Maps and OpenStreetMap. Studies show that mobile GPS-based tracking can provide accurate location updates when combined with map visualization tools. Techniques such as real-time data streaming and geolocation services help users track movement and estimate arrival time.</a:t>
            </a:r>
          </a:p>
          <a:p>
            <a:pPr algn="just">
              <a:buNone/>
            </a:pPr>
            <a:r>
              <a:rPr lang="en-US" b="1" dirty="0">
                <a:latin typeface="Times New Roman" panose="02020603050405020304" pitchFamily="18" charset="0"/>
                <a:cs typeface="Times New Roman" panose="02020603050405020304" pitchFamily="18" charset="0"/>
              </a:rPr>
              <a:t>Limitation:</a:t>
            </a:r>
          </a:p>
          <a:p>
            <a:pPr algn="just">
              <a:buNone/>
            </a:pPr>
            <a:r>
              <a:rPr lang="en-US" dirty="0">
                <a:latin typeface="Times New Roman" panose="02020603050405020304" pitchFamily="18" charset="0"/>
                <a:cs typeface="Times New Roman" panose="02020603050405020304" pitchFamily="18" charset="0"/>
              </a:rPr>
              <a:t>Most existing systems rely on </a:t>
            </a:r>
            <a:r>
              <a:rPr lang="en-US" b="1" dirty="0">
                <a:latin typeface="Times New Roman" panose="02020603050405020304" pitchFamily="18" charset="0"/>
                <a:cs typeface="Times New Roman" panose="02020603050405020304" pitchFamily="18" charset="0"/>
              </a:rPr>
              <a:t>dedicated GPS hardware installed in buses</a:t>
            </a:r>
            <a:r>
              <a:rPr lang="en-US" dirty="0">
                <a:latin typeface="Times New Roman" panose="02020603050405020304" pitchFamily="18" charset="0"/>
                <a:cs typeface="Times New Roman" panose="02020603050405020304" pitchFamily="18" charset="0"/>
              </a:rPr>
              <a:t>, making deployment costly for institutions. Many solutions also lack additional features like ETA prediction, stop-based alerts, and role-based access control.</a:t>
            </a:r>
          </a:p>
          <a:p>
            <a:pPr algn="just">
              <a:buNone/>
            </a:pPr>
            <a:r>
              <a:rPr lang="en-US" b="1" dirty="0">
                <a:latin typeface="Times New Roman" panose="02020603050405020304" pitchFamily="18" charset="0"/>
                <a:cs typeface="Times New Roman" panose="02020603050405020304" pitchFamily="18" charset="0"/>
              </a:rPr>
              <a:t>Example:</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Rao et al. (2022)</a:t>
            </a:r>
            <a:r>
              <a:rPr lang="en-US" dirty="0">
                <a:latin typeface="Times New Roman" panose="02020603050405020304" pitchFamily="18" charset="0"/>
                <a:cs typeface="Times New Roman" panose="02020603050405020304" pitchFamily="18" charset="0"/>
              </a:rPr>
              <a:t> implemented a GPS-based school bus monitoring system, but required expensive tracking hardware.</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Singh &amp; Patel (2021)</a:t>
            </a:r>
            <a:r>
              <a:rPr lang="en-US" dirty="0">
                <a:latin typeface="Times New Roman" panose="02020603050405020304" pitchFamily="18" charset="0"/>
                <a:cs typeface="Times New Roman" panose="02020603050405020304" pitchFamily="18" charset="0"/>
              </a:rPr>
              <a:t> used a mobile phone for location tracking, but the system lacked ETA and student notification features.</a:t>
            </a:r>
          </a:p>
          <a:p>
            <a:pPr algn="just">
              <a:buNone/>
            </a:pPr>
            <a:r>
              <a:rPr lang="en-US" b="1" dirty="0">
                <a:latin typeface="Times New Roman" panose="02020603050405020304" pitchFamily="18" charset="0"/>
                <a:cs typeface="Times New Roman" panose="02020603050405020304" pitchFamily="18" charset="0"/>
              </a:rPr>
              <a:t>Gap:</a:t>
            </a:r>
          </a:p>
          <a:p>
            <a:pPr algn="just">
              <a:buNone/>
            </a:pPr>
            <a:r>
              <a:rPr lang="en-US" dirty="0">
                <a:latin typeface="Times New Roman" panose="02020603050405020304" pitchFamily="18" charset="0"/>
                <a:cs typeface="Times New Roman" panose="02020603050405020304" pitchFamily="18" charset="0"/>
              </a:rPr>
              <a:t>There is a lack of </a:t>
            </a:r>
            <a:r>
              <a:rPr lang="en-US" b="1" dirty="0">
                <a:latin typeface="Times New Roman" panose="02020603050405020304" pitchFamily="18" charset="0"/>
                <a:cs typeface="Times New Roman" panose="02020603050405020304" pitchFamily="18" charset="0"/>
              </a:rPr>
              <a:t>mobile-based, cost-effective college bus tracking systems</a:t>
            </a:r>
            <a:r>
              <a:rPr lang="en-US" dirty="0">
                <a:latin typeface="Times New Roman" panose="02020603050405020304" pitchFamily="18" charset="0"/>
                <a:cs typeface="Times New Roman" panose="02020603050405020304" pitchFamily="18" charset="0"/>
              </a:rPr>
              <a:t> that provide:</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Live map tracking</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ETA calculations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Stop alerts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Complaint handling</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Multi-role access (Admin, Driver, Student)</a:t>
            </a:r>
          </a:p>
          <a:p>
            <a:pPr algn="just">
              <a:buNone/>
            </a:pPr>
            <a:r>
              <a:rPr lang="en-US" dirty="0">
                <a:latin typeface="Times New Roman" panose="02020603050405020304" pitchFamily="18" charset="0"/>
                <a:cs typeface="Times New Roman" panose="02020603050405020304" pitchFamily="18" charset="0"/>
              </a:rPr>
              <a:t>This project bridges the gap by using </a:t>
            </a:r>
            <a:r>
              <a:rPr lang="en-US" b="1" dirty="0">
                <a:latin typeface="Times New Roman" panose="02020603050405020304" pitchFamily="18" charset="0"/>
                <a:cs typeface="Times New Roman" panose="02020603050405020304" pitchFamily="18" charset="0"/>
              </a:rPr>
              <a:t>smartphone GPS and cloud-based real-time location streaming</a:t>
            </a:r>
            <a:r>
              <a:rPr lang="en-US" dirty="0">
                <a:latin typeface="Times New Roman" panose="02020603050405020304" pitchFamily="18" charset="0"/>
                <a:cs typeface="Times New Roman" panose="02020603050405020304" pitchFamily="18" charset="0"/>
              </a:rPr>
              <a:t> to create an efficient and scalable bus tracking solution.</a:t>
            </a:r>
          </a:p>
        </p:txBody>
      </p:sp>
    </p:spTree>
    <p:extLst>
      <p:ext uri="{BB962C8B-B14F-4D97-AF65-F5344CB8AC3E}">
        <p14:creationId xmlns:p14="http://schemas.microsoft.com/office/powerpoint/2010/main" val="1444609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825DD-3148-4A09-B748-D67D76B965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2A18FE1-07E9-C80C-2298-AE7881E6A5E4}"/>
              </a:ext>
            </a:extLst>
          </p:cNvPr>
          <p:cNvSpPr/>
          <p:nvPr/>
        </p:nvSpPr>
        <p:spPr>
          <a:xfrm>
            <a:off x="0" y="261742"/>
            <a:ext cx="12192000" cy="941416"/>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4400" kern="0" dirty="0">
              <a:solidFill>
                <a:prstClr val="white"/>
              </a:solidFill>
              <a:latin typeface="Times New Roman" panose="02020603050405020304"/>
              <a:cs typeface="Times New Roman" panose="02020603050405020304"/>
              <a:sym typeface="+mn-ea"/>
            </a:endParaRPr>
          </a:p>
          <a:p>
            <a:r>
              <a:rPr lang="en-US" sz="4400" kern="0" dirty="0">
                <a:solidFill>
                  <a:prstClr val="white"/>
                </a:solidFill>
                <a:latin typeface="Times New Roman" panose="02020603050405020304"/>
                <a:cs typeface="Times New Roman" panose="02020603050405020304"/>
                <a:sym typeface="+mn-ea"/>
              </a:rPr>
              <a:t> Existing System</a:t>
            </a:r>
            <a:endParaRPr lang="en-IN" sz="4400" dirty="0">
              <a:solidFill>
                <a:schemeClr val="bg1"/>
              </a:solidFill>
              <a:latin typeface="Times New Roman" panose="02020603050405020304" pitchFamily="18" charset="0"/>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id="{9B0AEEAC-71E2-E581-F4F9-CA74255D09FB}"/>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895BA0D-9DB4-A2AD-878F-8732C23F7EC8}"/>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DEA7E27-BB51-A220-567C-74A054E80159}"/>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2771AF91-E96E-248F-207D-66225AF27749}"/>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07</a:t>
            </a:r>
          </a:p>
        </p:txBody>
      </p:sp>
      <p:sp>
        <p:nvSpPr>
          <p:cNvPr id="20" name="TextBox 19">
            <a:extLst>
              <a:ext uri="{FF2B5EF4-FFF2-40B4-BE49-F238E27FC236}">
                <a16:creationId xmlns:a16="http://schemas.microsoft.com/office/drawing/2014/main" id="{4F44853E-A66A-9639-ABFA-13128D724BB0}"/>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sp>
        <p:nvSpPr>
          <p:cNvPr id="5" name="TextBox 4">
            <a:extLst>
              <a:ext uri="{FF2B5EF4-FFF2-40B4-BE49-F238E27FC236}">
                <a16:creationId xmlns:a16="http://schemas.microsoft.com/office/drawing/2014/main" id="{596A6D7E-12C7-CD90-E149-A9ECBD3C7631}"/>
              </a:ext>
            </a:extLst>
          </p:cNvPr>
          <p:cNvSpPr txBox="1"/>
          <p:nvPr/>
        </p:nvSpPr>
        <p:spPr>
          <a:xfrm>
            <a:off x="307932" y="1313224"/>
            <a:ext cx="11847095" cy="4647426"/>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Bus transportation management in many colleges is handled using manual methods such as printed timetables, notice boards, and phone calls to share route and timing information.</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Bus schedules, driver details, and routes are usually stored in registers or spreadsheets across different departments, making management difficult.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Since there is no real-time tracking or automated notifications, students cannot know the exact bus location or arrival time, leading to delays and communication issues.</a:t>
            </a:r>
          </a:p>
          <a:p>
            <a:pPr algn="just"/>
            <a:r>
              <a:rPr lang="en-US" sz="3200" b="1" dirty="0">
                <a:latin typeface="Times New Roman" panose="02020603050405020304" pitchFamily="18" charset="0"/>
                <a:cs typeface="Times New Roman" panose="02020603050405020304" pitchFamily="18" charset="0"/>
              </a:rPr>
              <a:t>Key Features of Existing System</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Manual bus schedule management using printed timetables or notice boards.</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Communication through phone calls or messaging apps.</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Bus route and driver details maintained in registers or spreadsheets.</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coordination between administrators, drivers, and students.</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Basic transportation management without integrated digital platforms</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38117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7D2D5-34F4-E7DC-8B6D-A93F4DA1559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D8353CE-EE22-6CF7-BC50-ECF941E439F4}"/>
              </a:ext>
            </a:extLst>
          </p:cNvPr>
          <p:cNvSpPr/>
          <p:nvPr/>
        </p:nvSpPr>
        <p:spPr>
          <a:xfrm>
            <a:off x="0" y="261742"/>
            <a:ext cx="12192000" cy="941416"/>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4400" kern="0" dirty="0">
              <a:solidFill>
                <a:prstClr val="white"/>
              </a:solidFill>
              <a:latin typeface="Times New Roman" panose="02020603050405020304"/>
              <a:cs typeface="Times New Roman" panose="02020603050405020304"/>
              <a:sym typeface="+mn-ea"/>
            </a:endParaRPr>
          </a:p>
          <a:p>
            <a:r>
              <a:rPr lang="en-US" sz="4400" kern="0" dirty="0">
                <a:solidFill>
                  <a:prstClr val="white"/>
                </a:solidFill>
                <a:latin typeface="Times New Roman" panose="02020603050405020304"/>
                <a:cs typeface="Times New Roman" panose="02020603050405020304"/>
                <a:sym typeface="+mn-ea"/>
              </a:rPr>
              <a:t> Existing System</a:t>
            </a:r>
            <a:endParaRPr lang="en-IN" sz="4400" dirty="0">
              <a:solidFill>
                <a:schemeClr val="bg1"/>
              </a:solidFill>
              <a:latin typeface="Times New Roman" panose="02020603050405020304" pitchFamily="18" charset="0"/>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id="{75B36CEE-565C-26CE-A2F7-6CFE07DEE103}"/>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54AE35B9-6C71-6516-B008-2256028FD334}"/>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DD4E35E-CD66-D929-1DFB-71F16EEBCF00}"/>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C57EC0B-069D-E0B7-5CAF-FC7DDF488181}"/>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08</a:t>
            </a:r>
          </a:p>
        </p:txBody>
      </p:sp>
      <p:sp>
        <p:nvSpPr>
          <p:cNvPr id="20" name="TextBox 19">
            <a:extLst>
              <a:ext uri="{FF2B5EF4-FFF2-40B4-BE49-F238E27FC236}">
                <a16:creationId xmlns:a16="http://schemas.microsoft.com/office/drawing/2014/main" id="{76CB08E5-CCE4-5208-3B87-D75CE4688940}"/>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sp>
        <p:nvSpPr>
          <p:cNvPr id="5" name="TextBox 4">
            <a:extLst>
              <a:ext uri="{FF2B5EF4-FFF2-40B4-BE49-F238E27FC236}">
                <a16:creationId xmlns:a16="http://schemas.microsoft.com/office/drawing/2014/main" id="{8F44BF1E-DA7B-A626-60F8-A31478318ACF}"/>
              </a:ext>
            </a:extLst>
          </p:cNvPr>
          <p:cNvSpPr txBox="1"/>
          <p:nvPr/>
        </p:nvSpPr>
        <p:spPr>
          <a:xfrm>
            <a:off x="152400" y="1203157"/>
            <a:ext cx="11847095" cy="409342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Limitations of Existing System</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 centralized digital system for managing transport data.</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Lack of real-time bus tracking and location updates.</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Students cannot know exact arrival time (ETA) of buses.</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 automated alerts or notification system.</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 stored in multiple places causing confusion and inconsistencies.</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High administrative workload due to manual coordination.</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Poor communication between students, drivers, and administrators.</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 structured system for complaints or feedback</a:t>
            </a:r>
            <a:r>
              <a:rPr lang="en-US" sz="3200" dirty="0">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2820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EA93D-4AE5-1D09-A073-84567856FB6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A194F8-67A0-190A-B05B-CAC8950D8DBF}"/>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9DDC71E-BFF2-32C6-3867-42F67D12E777}"/>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D10595E-1247-3A55-1EB3-C299FABD5473}"/>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DE30282-B537-6407-C32C-B298E090F78F}"/>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32F00EC-5CA7-5270-B798-5A8CD1163E94}"/>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09</a:t>
            </a:r>
          </a:p>
        </p:txBody>
      </p:sp>
      <p:sp>
        <p:nvSpPr>
          <p:cNvPr id="16" name="TextBox 15">
            <a:extLst>
              <a:ext uri="{FF2B5EF4-FFF2-40B4-BE49-F238E27FC236}">
                <a16:creationId xmlns:a16="http://schemas.microsoft.com/office/drawing/2014/main" id="{A7B91288-2246-47AA-4C31-05156E084A56}"/>
              </a:ext>
            </a:extLst>
          </p:cNvPr>
          <p:cNvSpPr txBox="1"/>
          <p:nvPr/>
        </p:nvSpPr>
        <p:spPr>
          <a:xfrm>
            <a:off x="76200" y="405080"/>
            <a:ext cx="7315200" cy="1323439"/>
          </a:xfrm>
          <a:prstGeom prst="rect">
            <a:avLst/>
          </a:prstGeom>
          <a:noFill/>
        </p:spPr>
        <p:txBody>
          <a:bodyPr wrap="square" rtlCol="0">
            <a:spAutoFit/>
          </a:bodyPr>
          <a:lstStyle/>
          <a:p>
            <a:r>
              <a:rPr lang="en-US" sz="4000" kern="0" dirty="0">
                <a:solidFill>
                  <a:prstClr val="white"/>
                </a:solidFill>
                <a:latin typeface="Times New Roman" panose="02020603050405020304"/>
                <a:cs typeface="Times New Roman" panose="02020603050405020304"/>
                <a:sym typeface="+mn-ea"/>
              </a:rPr>
              <a:t>Proposed System</a:t>
            </a:r>
            <a:endParaRPr lang="en-IN" sz="3600" dirty="0">
              <a:solidFill>
                <a:schemeClr val="bg1"/>
              </a:solidFill>
              <a:latin typeface="Times New Roman" panose="02020603050405020304" pitchFamily="18" charset="0"/>
              <a:cs typeface="Times New Roman" panose="02020603050405020304" pitchFamily="18" charset="0"/>
            </a:endParaRPr>
          </a:p>
          <a:p>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6A62FBB6-20CB-08D6-6EC0-1938A776BD3B}"/>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sp>
        <p:nvSpPr>
          <p:cNvPr id="4" name="TextBox 3">
            <a:extLst>
              <a:ext uri="{FF2B5EF4-FFF2-40B4-BE49-F238E27FC236}">
                <a16:creationId xmlns:a16="http://schemas.microsoft.com/office/drawing/2014/main" id="{57FC88D7-50B5-B437-4D4F-E2EBCD25A21D}"/>
              </a:ext>
            </a:extLst>
          </p:cNvPr>
          <p:cNvSpPr txBox="1"/>
          <p:nvPr/>
        </p:nvSpPr>
        <p:spPr>
          <a:xfrm>
            <a:off x="152400" y="1363578"/>
            <a:ext cx="11963400" cy="415498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The proposed system is a web-based and mobile-friendly platform designed to manage college bus transportation in an organized and digital way. </a:t>
            </a:r>
          </a:p>
          <a:p>
            <a:r>
              <a:rPr lang="en-US" sz="2400" dirty="0">
                <a:latin typeface="Times New Roman" panose="02020603050405020304" pitchFamily="18" charset="0"/>
                <a:cs typeface="Times New Roman" panose="02020603050405020304" pitchFamily="18" charset="0"/>
              </a:rPr>
              <a:t>Key Features of Proposed System</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Hybrid GPS tracking using mobile GPS and bus-installed GPS device for accurate location tracking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Real-time bus location displayed on an interactive map.</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Estimated Time of Arrival (ETA) calculation for each bus stop.</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Stop-based notifications to alert students before the bus arrives.AI-powered chatbot to answer queries about routes, timings, and bus location.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Centralized cloud system for storing and managing transportation data.</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Complaint submission and tracking system for students.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3402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9AF97-1F7D-7461-69A7-C0DA675BFA0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97BD03F-2D05-7F42-DDA3-C26FC393B726}"/>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778B0747-DDC5-880C-17D0-6A2EC0923043}"/>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AE8F859-A200-5894-5B40-1B518C7775F9}"/>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80FA669-6F9F-F2B8-EB89-F82549D838EA}"/>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BC070A2-1AF2-3C1D-D84E-1151A16098DC}"/>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10</a:t>
            </a:r>
          </a:p>
        </p:txBody>
      </p:sp>
      <p:sp>
        <p:nvSpPr>
          <p:cNvPr id="16" name="TextBox 15">
            <a:extLst>
              <a:ext uri="{FF2B5EF4-FFF2-40B4-BE49-F238E27FC236}">
                <a16:creationId xmlns:a16="http://schemas.microsoft.com/office/drawing/2014/main" id="{EB128DD3-2EB2-764D-B0DD-D88C6216BD5F}"/>
              </a:ext>
            </a:extLst>
          </p:cNvPr>
          <p:cNvSpPr txBox="1"/>
          <p:nvPr/>
        </p:nvSpPr>
        <p:spPr>
          <a:xfrm>
            <a:off x="141513" y="409825"/>
            <a:ext cx="12660087" cy="1323439"/>
          </a:xfrm>
          <a:prstGeom prst="rect">
            <a:avLst/>
          </a:prstGeom>
          <a:noFill/>
        </p:spPr>
        <p:txBody>
          <a:bodyPr wrap="square" rtlCol="0">
            <a:spAutoFit/>
          </a:bodyPr>
          <a:lstStyle/>
          <a:p>
            <a:r>
              <a:rPr lang="en-US" sz="4000" kern="0" dirty="0">
                <a:solidFill>
                  <a:prstClr val="white"/>
                </a:solidFill>
                <a:latin typeface="Times New Roman" panose="02020603050405020304"/>
                <a:cs typeface="Times New Roman" panose="02020603050405020304"/>
                <a:sym typeface="+mn-ea"/>
              </a:rPr>
              <a:t>Proposed System</a:t>
            </a:r>
            <a:endParaRPr lang="en-IN" sz="3600" dirty="0">
              <a:solidFill>
                <a:schemeClr val="bg1"/>
              </a:solidFill>
              <a:latin typeface="Times New Roman" panose="02020603050405020304" pitchFamily="18" charset="0"/>
              <a:cs typeface="Times New Roman" panose="02020603050405020304" pitchFamily="18" charset="0"/>
            </a:endParaRPr>
          </a:p>
          <a:p>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37418BA2-EEC1-2CD1-8DAE-9DCEE7E4DF31}"/>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sp>
        <p:nvSpPr>
          <p:cNvPr id="4" name="TextBox 3">
            <a:extLst>
              <a:ext uri="{FF2B5EF4-FFF2-40B4-BE49-F238E27FC236}">
                <a16:creationId xmlns:a16="http://schemas.microsoft.com/office/drawing/2014/main" id="{1A053922-E59A-07FB-1F51-1ADD771BA079}"/>
              </a:ext>
            </a:extLst>
          </p:cNvPr>
          <p:cNvSpPr txBox="1"/>
          <p:nvPr/>
        </p:nvSpPr>
        <p:spPr>
          <a:xfrm>
            <a:off x="152400" y="1197429"/>
            <a:ext cx="11898086" cy="4770537"/>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Role-Based Access System</a:t>
            </a:r>
          </a:p>
          <a:p>
            <a:r>
              <a:rPr lang="en-US" sz="2000" dirty="0">
                <a:latin typeface="Times New Roman" panose="02020603050405020304" pitchFamily="18" charset="0"/>
                <a:cs typeface="Times New Roman" panose="02020603050405020304" pitchFamily="18" charset="0"/>
              </a:rPr>
              <a:t>The system provides access to three main users:</a:t>
            </a:r>
          </a:p>
          <a:p>
            <a:r>
              <a:rPr lang="en-US" sz="2000" b="1" dirty="0">
                <a:latin typeface="Times New Roman" panose="02020603050405020304" pitchFamily="18" charset="0"/>
                <a:cs typeface="Times New Roman" panose="02020603050405020304" pitchFamily="18" charset="0"/>
              </a:rPr>
              <a:t>Administrator</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Manage buses, routes, drivers, and student registrations.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Monitor live bus tracking through dashboard.</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View and respond to complaints.</a:t>
            </a:r>
          </a:p>
          <a:p>
            <a:r>
              <a:rPr lang="en-US" sz="2000" b="1" dirty="0">
                <a:latin typeface="Times New Roman" panose="02020603050405020304" pitchFamily="18" charset="0"/>
                <a:cs typeface="Times New Roman" panose="02020603050405020304" pitchFamily="18" charset="0"/>
              </a:rPr>
              <a:t>Driver</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Login to update real-time bus location using mobile GPS.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Share updates about delays or route changes.</a:t>
            </a:r>
          </a:p>
          <a:p>
            <a:r>
              <a:rPr lang="en-US" sz="2000" b="1" dirty="0">
                <a:latin typeface="Times New Roman" panose="02020603050405020304" pitchFamily="18" charset="0"/>
                <a:cs typeface="Times New Roman" panose="02020603050405020304" pitchFamily="18" charset="0"/>
              </a:rPr>
              <a:t>Student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Login securely to track bus location in real-time.</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View route details and estimated arrival time.</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Submit complaints or queries through the system.</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Notification Allerts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8607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E9B88-6D3D-BD8B-2B36-EE1B536168B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0BA7B00-C881-96B2-8346-CC08B02A3219}"/>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73639766-473A-429C-3B04-A8C04C0C8083}"/>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5C055F4-0E3C-2BD8-580D-FF9B7A1BD4D1}"/>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7FE3448-D8D9-B271-2E0C-FE9FE65508FE}"/>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24859C46-FC50-2F86-9198-86508D68F2B8}"/>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1</a:t>
            </a:r>
          </a:p>
        </p:txBody>
      </p:sp>
      <p:sp>
        <p:nvSpPr>
          <p:cNvPr id="16" name="TextBox 15">
            <a:extLst>
              <a:ext uri="{FF2B5EF4-FFF2-40B4-BE49-F238E27FC236}">
                <a16:creationId xmlns:a16="http://schemas.microsoft.com/office/drawing/2014/main" id="{BAA58326-F0E1-DF85-F76C-F31716A58C50}"/>
              </a:ext>
            </a:extLst>
          </p:cNvPr>
          <p:cNvSpPr txBox="1"/>
          <p:nvPr/>
        </p:nvSpPr>
        <p:spPr>
          <a:xfrm>
            <a:off x="304800" y="409825"/>
            <a:ext cx="7315200" cy="1323439"/>
          </a:xfrm>
          <a:prstGeom prst="rect">
            <a:avLst/>
          </a:prstGeom>
          <a:noFill/>
        </p:spPr>
        <p:txBody>
          <a:bodyPr wrap="square" rtlCol="0">
            <a:spAutoFit/>
          </a:bodyPr>
          <a:lstStyle/>
          <a:p>
            <a:r>
              <a:rPr lang="en-US" sz="4000" kern="0" dirty="0">
                <a:solidFill>
                  <a:prstClr val="white"/>
                </a:solidFill>
                <a:latin typeface="Times New Roman" panose="02020603050405020304"/>
                <a:cs typeface="Times New Roman" panose="02020603050405020304"/>
                <a:sym typeface="+mn-ea"/>
              </a:rPr>
              <a:t>Planning</a:t>
            </a:r>
            <a:endParaRPr lang="en-IN" sz="3600" dirty="0">
              <a:solidFill>
                <a:schemeClr val="bg1"/>
              </a:solidFill>
              <a:latin typeface="Times New Roman" panose="02020603050405020304" pitchFamily="18" charset="0"/>
              <a:cs typeface="Times New Roman" panose="02020603050405020304" pitchFamily="18" charset="0"/>
            </a:endParaRPr>
          </a:p>
          <a:p>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D7759FF2-442D-D597-EB0A-03EA62C12A92}"/>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sp>
        <p:nvSpPr>
          <p:cNvPr id="4" name="TextBox 3">
            <a:extLst>
              <a:ext uri="{FF2B5EF4-FFF2-40B4-BE49-F238E27FC236}">
                <a16:creationId xmlns:a16="http://schemas.microsoft.com/office/drawing/2014/main" id="{216B225D-37E3-3A8B-B928-435B9AF07296}"/>
              </a:ext>
            </a:extLst>
          </p:cNvPr>
          <p:cNvSpPr txBox="1"/>
          <p:nvPr/>
        </p:nvSpPr>
        <p:spPr>
          <a:xfrm>
            <a:off x="152400" y="1363579"/>
            <a:ext cx="11879179" cy="4893647"/>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planning phase of the Smart College Bus Tracking System focused on identifying the issues in traditional college transportation management and proposing a smart solution using GPS tracking and digital communication.</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During this stage, requirement analysis was conducted to understand the needs of administrators, drivers, and students for efficient bus tracking and management.*</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workflow was designed using role-based access, clearly defining how administrators, drivers, and students interact with the system.</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organization and route management planning were considered to ensure that bus details, driver information, routes, and student records are maintained in a centralized system.</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addition, real-time tracking and notification planning were included to provide live bus location, estimated arrival time (ETA), and stop-based alerts to students.</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These planning steps helped create a structured framework for developing an efficient, reliable, and smart transportation management system for college campuses.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4496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4176F-BBDA-BF3F-546C-43DFA0C5BCE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723BEE3-8817-97D7-2C5D-E3599BBAB80F}"/>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A37A13C-151C-8875-E428-E9C3C5B89003}"/>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F0EE8C1-32B4-A21A-B8FE-8F3FE1A8437A}"/>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15B0D9D-61F8-4389-0E61-8DD297293862}"/>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5F8E330-20E7-8119-4656-FCBF121BD3E4}"/>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2</a:t>
            </a:r>
          </a:p>
        </p:txBody>
      </p:sp>
      <p:sp>
        <p:nvSpPr>
          <p:cNvPr id="16" name="TextBox 15">
            <a:extLst>
              <a:ext uri="{FF2B5EF4-FFF2-40B4-BE49-F238E27FC236}">
                <a16:creationId xmlns:a16="http://schemas.microsoft.com/office/drawing/2014/main" id="{46A26362-1964-4339-7685-D6E0C04C98C8}"/>
              </a:ext>
            </a:extLst>
          </p:cNvPr>
          <p:cNvSpPr txBox="1"/>
          <p:nvPr/>
        </p:nvSpPr>
        <p:spPr>
          <a:xfrm>
            <a:off x="304800" y="409825"/>
            <a:ext cx="7315200" cy="1323439"/>
          </a:xfrm>
          <a:prstGeom prst="rect">
            <a:avLst/>
          </a:prstGeom>
          <a:noFill/>
        </p:spPr>
        <p:txBody>
          <a:bodyPr wrap="square" rtlCol="0">
            <a:spAutoFit/>
          </a:bodyPr>
          <a:lstStyle/>
          <a:p>
            <a:r>
              <a:rPr lang="en-US" sz="4000" kern="0" dirty="0">
                <a:solidFill>
                  <a:prstClr val="white"/>
                </a:solidFill>
                <a:latin typeface="Times New Roman" panose="02020603050405020304"/>
                <a:cs typeface="Times New Roman" panose="02020603050405020304"/>
                <a:sym typeface="+mn-ea"/>
              </a:rPr>
              <a:t>Design</a:t>
            </a:r>
            <a:endParaRPr lang="en-IN" sz="3600" dirty="0">
              <a:solidFill>
                <a:schemeClr val="bg1"/>
              </a:solidFill>
              <a:latin typeface="Times New Roman" panose="02020603050405020304" pitchFamily="18" charset="0"/>
              <a:cs typeface="Times New Roman" panose="02020603050405020304" pitchFamily="18" charset="0"/>
            </a:endParaRPr>
          </a:p>
          <a:p>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49002B2B-8ED0-3B41-22C1-42611BF11FDF}"/>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sp>
        <p:nvSpPr>
          <p:cNvPr id="21" name="TextBox 20">
            <a:extLst>
              <a:ext uri="{FF2B5EF4-FFF2-40B4-BE49-F238E27FC236}">
                <a16:creationId xmlns:a16="http://schemas.microsoft.com/office/drawing/2014/main" id="{74AAA811-4AC4-1ADC-E7F9-3D3BFFE68033}"/>
              </a:ext>
            </a:extLst>
          </p:cNvPr>
          <p:cNvSpPr txBox="1"/>
          <p:nvPr/>
        </p:nvSpPr>
        <p:spPr>
          <a:xfrm>
            <a:off x="304800" y="1327958"/>
            <a:ext cx="11454378" cy="4585871"/>
          </a:xfrm>
          <a:prstGeom prst="rect">
            <a:avLst/>
          </a:prstGeom>
          <a:noFill/>
        </p:spPr>
        <p:txBody>
          <a:bodyPr wrap="square" rtlCol="0">
            <a:spAutoFit/>
          </a:bodyPr>
          <a:lstStyle/>
          <a:p>
            <a:pPr lvl="0"/>
            <a:r>
              <a:rPr lang="en-US" sz="3200" b="1" dirty="0">
                <a:latin typeface="Times New Roman" panose="02020603050405020304" pitchFamily="18" charset="0"/>
                <a:cs typeface="Times New Roman" panose="02020603050405020304" pitchFamily="18" charset="0"/>
              </a:rPr>
              <a:t>System Architecture </a:t>
            </a:r>
          </a:p>
          <a:p>
            <a:pPr marL="285750" lvl="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is designed using a web-based and mobile-compatible architecture that allows secure access and real-time monitoring.</a:t>
            </a:r>
          </a:p>
          <a:p>
            <a:pPr marL="285750" lvl="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follows a role-based structure with three main users:</a:t>
            </a:r>
          </a:p>
          <a:p>
            <a:pPr marL="342900" lvl="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Administrator</a:t>
            </a:r>
          </a:p>
          <a:p>
            <a:pPr marL="342900" lvl="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Driver</a:t>
            </a:r>
          </a:p>
          <a:p>
            <a:pPr marL="342900" lvl="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Student</a:t>
            </a:r>
          </a:p>
          <a:p>
            <a:pPr marL="285750" lvl="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Frontend layer provides user interfaces for registration, login, bus tracking, route viewing, notifications, and complaint submission.</a:t>
            </a:r>
          </a:p>
          <a:p>
            <a:pPr marL="285750" lvl="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Backend layer processes requests, manages authentication, and controls role-based access.</a:t>
            </a:r>
          </a:p>
          <a:p>
            <a:pPr marL="285750" lvl="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centralized database stores information such as bus details, driver data, routes, student registrations, and tracking records.</a:t>
            </a:r>
          </a:p>
          <a:p>
            <a:pPr marL="285750" lvl="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integrates Hybrid GPS tracking and AI chatbot support for accurate tracking and instant query responses.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391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3E76E-FD0E-2DDE-33E0-D379A195DF3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DBCDFCD-160E-3819-8A35-D8DED62997E4}"/>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3C6DA779-A674-513B-5EDC-21A59AD0A679}"/>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A0BC494-7F25-FEBE-19EB-2C5B38582743}"/>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9DABF320-5C8E-BBED-A820-2A33B35BED3C}"/>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A54D62D9-0833-12F0-2395-8433B9B145E0}"/>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3</a:t>
            </a:r>
          </a:p>
        </p:txBody>
      </p:sp>
      <p:sp>
        <p:nvSpPr>
          <p:cNvPr id="16" name="TextBox 15">
            <a:extLst>
              <a:ext uri="{FF2B5EF4-FFF2-40B4-BE49-F238E27FC236}">
                <a16:creationId xmlns:a16="http://schemas.microsoft.com/office/drawing/2014/main" id="{10DEF8F4-9D1C-C668-B786-58D0A0D63DCE}"/>
              </a:ext>
            </a:extLst>
          </p:cNvPr>
          <p:cNvSpPr txBox="1"/>
          <p:nvPr/>
        </p:nvSpPr>
        <p:spPr>
          <a:xfrm>
            <a:off x="304800" y="409825"/>
            <a:ext cx="7315200" cy="1323439"/>
          </a:xfrm>
          <a:prstGeom prst="rect">
            <a:avLst/>
          </a:prstGeom>
          <a:noFill/>
        </p:spPr>
        <p:txBody>
          <a:bodyPr wrap="square" rtlCol="0">
            <a:spAutoFit/>
          </a:bodyPr>
          <a:lstStyle/>
          <a:p>
            <a:r>
              <a:rPr lang="en-US" sz="4000" kern="0" dirty="0">
                <a:solidFill>
                  <a:prstClr val="white"/>
                </a:solidFill>
                <a:latin typeface="Times New Roman" panose="02020603050405020304"/>
                <a:cs typeface="Times New Roman" panose="02020603050405020304"/>
                <a:sym typeface="+mn-ea"/>
              </a:rPr>
              <a:t>Design</a:t>
            </a:r>
            <a:endParaRPr lang="en-IN" sz="3600" dirty="0">
              <a:solidFill>
                <a:schemeClr val="bg1"/>
              </a:solidFill>
              <a:latin typeface="Times New Roman" panose="02020603050405020304" pitchFamily="18" charset="0"/>
              <a:cs typeface="Times New Roman" panose="02020603050405020304" pitchFamily="18" charset="0"/>
            </a:endParaRPr>
          </a:p>
          <a:p>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3690BAB-15C1-AB1F-7CF2-D41B1BAD80A7}"/>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sp>
        <p:nvSpPr>
          <p:cNvPr id="21" name="TextBox 20">
            <a:extLst>
              <a:ext uri="{FF2B5EF4-FFF2-40B4-BE49-F238E27FC236}">
                <a16:creationId xmlns:a16="http://schemas.microsoft.com/office/drawing/2014/main" id="{8E0EA815-EE7C-3350-0DDF-DEDF4A500A1B}"/>
              </a:ext>
            </a:extLst>
          </p:cNvPr>
          <p:cNvSpPr txBox="1"/>
          <p:nvPr/>
        </p:nvSpPr>
        <p:spPr>
          <a:xfrm>
            <a:off x="304800" y="1327958"/>
            <a:ext cx="11454378" cy="4401205"/>
          </a:xfrm>
          <a:prstGeom prst="rect">
            <a:avLst/>
          </a:prstGeom>
          <a:noFill/>
        </p:spPr>
        <p:txBody>
          <a:bodyPr wrap="square" rtlCol="0">
            <a:spAutoFit/>
          </a:bodyPr>
          <a:lstStyle/>
          <a:p>
            <a:pPr lvl="0"/>
            <a:r>
              <a:rPr lang="en-US" sz="2800" b="1" dirty="0">
                <a:latin typeface="Times New Roman" panose="02020603050405020304" pitchFamily="18" charset="0"/>
                <a:cs typeface="Times New Roman" panose="02020603050405020304" pitchFamily="18" charset="0"/>
              </a:rPr>
              <a:t>User Management Module</a:t>
            </a:r>
          </a:p>
          <a:p>
            <a:pPr lvl="0"/>
            <a:r>
              <a:rPr lang="en-US" sz="2400" dirty="0">
                <a:latin typeface="Times New Roman" panose="02020603050405020304" pitchFamily="18" charset="0"/>
                <a:cs typeface="Times New Roman" panose="02020603050405020304" pitchFamily="18" charset="0"/>
              </a:rPr>
              <a:t>User Management and Authentication</a:t>
            </a:r>
          </a:p>
          <a:p>
            <a:pPr marL="285750" lvl="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Manages user registration, login, and authentication.</a:t>
            </a:r>
          </a:p>
          <a:p>
            <a:pPr lvl="0"/>
            <a:r>
              <a:rPr lang="en-US" sz="2400" b="1" dirty="0">
                <a:latin typeface="Times New Roman" panose="02020603050405020304" pitchFamily="18" charset="0"/>
                <a:cs typeface="Times New Roman" panose="02020603050405020304" pitchFamily="18" charset="0"/>
              </a:rPr>
              <a:t>Supports three user roles:</a:t>
            </a:r>
          </a:p>
          <a:p>
            <a:pPr marL="285750" lvl="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Administrator</a:t>
            </a:r>
          </a:p>
          <a:p>
            <a:pPr marL="285750" lvl="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Driver</a:t>
            </a:r>
          </a:p>
          <a:p>
            <a:pPr marL="285750" lvl="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Student</a:t>
            </a:r>
          </a:p>
          <a:p>
            <a:pPr lvl="0"/>
            <a:r>
              <a:rPr lang="en-US" sz="2400" b="1" dirty="0">
                <a:latin typeface="Times New Roman" panose="02020603050405020304" pitchFamily="18" charset="0"/>
                <a:cs typeface="Times New Roman" panose="02020603050405020304" pitchFamily="18" charset="0"/>
              </a:rPr>
              <a:t>Key features include:</a:t>
            </a:r>
          </a:p>
          <a:p>
            <a:pPr marL="285750" lvl="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Profile management</a:t>
            </a:r>
          </a:p>
          <a:p>
            <a:pPr marL="285750" lvl="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Secure login verification</a:t>
            </a:r>
          </a:p>
          <a:p>
            <a:pPr marL="285750" lvl="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Role-based permission control</a:t>
            </a:r>
          </a:p>
          <a:p>
            <a:pPr marL="285750" lvl="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administrator can manage users, buses, and driver details through a dashboard.</a:t>
            </a:r>
          </a:p>
          <a:p>
            <a:pPr marL="285750" lvl="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Ensures that each user can access only authorized features of the system.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8801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2CC77-916D-7ACA-AF54-50F4E6C2F9A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1B5C14D-693F-6352-CF7B-02DD4E4FDFEE}"/>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AA6F813-4813-B8A0-FC6D-19BCB7225F31}"/>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CBADD57-735E-0659-D4ED-0AEE0A22ACCC}"/>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DAC4316-0A33-B8F7-FFC3-E3CB726BE1CE}"/>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723C67B2-5D18-572B-3258-F1E1CF379A7D}"/>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4</a:t>
            </a:r>
          </a:p>
        </p:txBody>
      </p:sp>
      <p:sp>
        <p:nvSpPr>
          <p:cNvPr id="16" name="TextBox 15">
            <a:extLst>
              <a:ext uri="{FF2B5EF4-FFF2-40B4-BE49-F238E27FC236}">
                <a16:creationId xmlns:a16="http://schemas.microsoft.com/office/drawing/2014/main" id="{6B4A5069-2655-9B14-35C8-C06A54621AED}"/>
              </a:ext>
            </a:extLst>
          </p:cNvPr>
          <p:cNvSpPr txBox="1"/>
          <p:nvPr/>
        </p:nvSpPr>
        <p:spPr>
          <a:xfrm>
            <a:off x="304800" y="409825"/>
            <a:ext cx="7315200" cy="1323439"/>
          </a:xfrm>
          <a:prstGeom prst="rect">
            <a:avLst/>
          </a:prstGeom>
          <a:noFill/>
        </p:spPr>
        <p:txBody>
          <a:bodyPr wrap="square" rtlCol="0">
            <a:spAutoFit/>
          </a:bodyPr>
          <a:lstStyle/>
          <a:p>
            <a:r>
              <a:rPr lang="en-US" sz="4000" kern="0" dirty="0">
                <a:solidFill>
                  <a:prstClr val="white"/>
                </a:solidFill>
                <a:latin typeface="Times New Roman" panose="02020603050405020304"/>
                <a:cs typeface="Times New Roman" panose="02020603050405020304"/>
                <a:sym typeface="+mn-ea"/>
              </a:rPr>
              <a:t>Design</a:t>
            </a:r>
            <a:endParaRPr lang="en-IN" sz="3600" dirty="0">
              <a:solidFill>
                <a:schemeClr val="bg1"/>
              </a:solidFill>
              <a:latin typeface="Times New Roman" panose="02020603050405020304" pitchFamily="18" charset="0"/>
              <a:cs typeface="Times New Roman" panose="02020603050405020304" pitchFamily="18" charset="0"/>
            </a:endParaRPr>
          </a:p>
          <a:p>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C6E52617-5EA3-AC10-C16B-1171AE08EC5E}"/>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sp>
        <p:nvSpPr>
          <p:cNvPr id="21" name="TextBox 20">
            <a:extLst>
              <a:ext uri="{FF2B5EF4-FFF2-40B4-BE49-F238E27FC236}">
                <a16:creationId xmlns:a16="http://schemas.microsoft.com/office/drawing/2014/main" id="{0AA7494D-AB64-0307-F750-D7D2B556C385}"/>
              </a:ext>
            </a:extLst>
          </p:cNvPr>
          <p:cNvSpPr txBox="1"/>
          <p:nvPr/>
        </p:nvSpPr>
        <p:spPr>
          <a:xfrm>
            <a:off x="152400" y="1353356"/>
            <a:ext cx="11454378" cy="4216539"/>
          </a:xfrm>
          <a:prstGeom prst="rect">
            <a:avLst/>
          </a:prstGeom>
          <a:noFill/>
        </p:spPr>
        <p:txBody>
          <a:bodyPr wrap="square" rtlCol="0">
            <a:spAutoFit/>
          </a:bodyPr>
          <a:lstStyle/>
          <a:p>
            <a:pPr lvl="0"/>
            <a:r>
              <a:rPr lang="en-US" sz="2800" b="1" dirty="0">
                <a:latin typeface="Times New Roman" panose="02020603050405020304" pitchFamily="18" charset="0"/>
                <a:cs typeface="Times New Roman" panose="02020603050405020304" pitchFamily="18" charset="0"/>
              </a:rPr>
              <a:t>Tracking, Route, Notification &amp; AI Modules</a:t>
            </a:r>
          </a:p>
          <a:p>
            <a:pPr lvl="0"/>
            <a:r>
              <a:rPr lang="en-US" sz="2400" b="1" dirty="0">
                <a:latin typeface="Times New Roman" panose="02020603050405020304" pitchFamily="18" charset="0"/>
                <a:cs typeface="Times New Roman" panose="02020603050405020304" pitchFamily="18" charset="0"/>
              </a:rPr>
              <a:t>Bus Tracking Module</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Tracks bus location in real time using Hybrid GPS technology.</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Combines driver mobile GPS and bus GPS device for accurate tracking.</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Displays live location on an interactive map.</a:t>
            </a:r>
          </a:p>
          <a:p>
            <a:pPr lvl="0"/>
            <a:r>
              <a:rPr lang="en-US" sz="2400" b="1" dirty="0">
                <a:latin typeface="Times New Roman" panose="02020603050405020304" pitchFamily="18" charset="0"/>
                <a:cs typeface="Times New Roman" panose="02020603050405020304" pitchFamily="18" charset="0"/>
              </a:rPr>
              <a:t>Route Management</a:t>
            </a:r>
          </a:p>
          <a:p>
            <a:pPr marL="285750" lvl="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ModuleManages</a:t>
            </a:r>
            <a:r>
              <a:rPr lang="en-US" dirty="0">
                <a:latin typeface="Times New Roman" panose="02020603050405020304" pitchFamily="18" charset="0"/>
                <a:cs typeface="Times New Roman" panose="02020603050405020304" pitchFamily="18" charset="0"/>
              </a:rPr>
              <a:t> bus routes, stops, and estimated arrival times.</a:t>
            </a:r>
          </a:p>
          <a:p>
            <a:pPr lvl="0"/>
            <a:r>
              <a:rPr lang="en-US" sz="2400" b="1" dirty="0">
                <a:latin typeface="Times New Roman" panose="02020603050405020304" pitchFamily="18" charset="0"/>
                <a:cs typeface="Times New Roman" panose="02020603050405020304" pitchFamily="18" charset="0"/>
              </a:rPr>
              <a:t>Notification &amp; Complaint Module</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Sends alerts for bus arrival and route changes.</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Allows students to submit complaints to the administrator.</a:t>
            </a:r>
          </a:p>
          <a:p>
            <a:pPr lvl="0"/>
            <a:r>
              <a:rPr lang="en-US" sz="2400" b="1" dirty="0">
                <a:latin typeface="Times New Roman" panose="02020603050405020304" pitchFamily="18" charset="0"/>
                <a:cs typeface="Times New Roman" panose="02020603050405020304" pitchFamily="18" charset="0"/>
              </a:rPr>
              <a:t>AI Chatbot Module</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instant responses to queries about bus routes, timings, and system usage.</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Improves user convenience and communication efficiency.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4858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1678B-DFC8-191D-FCB2-6D5941A0BC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323A26-60C2-89F8-78B8-D18526A9336B}"/>
              </a:ext>
            </a:extLst>
          </p:cNvPr>
          <p:cNvSpPr/>
          <p:nvPr/>
        </p:nvSpPr>
        <p:spPr>
          <a:xfrm>
            <a:off x="0" y="228600"/>
            <a:ext cx="12192000" cy="721528"/>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1C645C9-3233-F395-5685-F373B8FAADBD}"/>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E22B351-9274-85EB-7C39-4A48CADD87BD}"/>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E707D3F-41EC-AF1E-79AE-F4CCA105D54D}"/>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59C4461-D407-8AA3-1BE4-A036EEB7AF1C}"/>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5</a:t>
            </a:r>
          </a:p>
        </p:txBody>
      </p:sp>
      <p:sp>
        <p:nvSpPr>
          <p:cNvPr id="16" name="TextBox 15">
            <a:extLst>
              <a:ext uri="{FF2B5EF4-FFF2-40B4-BE49-F238E27FC236}">
                <a16:creationId xmlns:a16="http://schemas.microsoft.com/office/drawing/2014/main" id="{9F68BBDC-ADE6-791E-BC90-C581E3E07D5F}"/>
              </a:ext>
            </a:extLst>
          </p:cNvPr>
          <p:cNvSpPr txBox="1"/>
          <p:nvPr/>
        </p:nvSpPr>
        <p:spPr>
          <a:xfrm>
            <a:off x="270076" y="199542"/>
            <a:ext cx="7315200" cy="769441"/>
          </a:xfrm>
          <a:prstGeom prst="rect">
            <a:avLst/>
          </a:prstGeom>
          <a:noFill/>
        </p:spPr>
        <p:txBody>
          <a:bodyPr wrap="square" rtlCol="0">
            <a:spAutoFit/>
          </a:bodyPr>
          <a:lstStyle/>
          <a:p>
            <a:pPr marL="12700">
              <a:lnSpc>
                <a:spcPct val="100000"/>
              </a:lnSpc>
              <a:spcBef>
                <a:spcPts val="100"/>
              </a:spcBef>
            </a:pPr>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Implementation</a:t>
            </a:r>
            <a:endParaRPr lang="en-IN" sz="4400" dirty="0">
              <a:latin typeface="Times New Roman"/>
              <a:cs typeface="Times New Roman"/>
            </a:endParaRPr>
          </a:p>
        </p:txBody>
      </p:sp>
      <p:sp>
        <p:nvSpPr>
          <p:cNvPr id="20" name="TextBox 19">
            <a:extLst>
              <a:ext uri="{FF2B5EF4-FFF2-40B4-BE49-F238E27FC236}">
                <a16:creationId xmlns:a16="http://schemas.microsoft.com/office/drawing/2014/main" id="{D51E9120-952F-8BE9-2182-E1D6B735A410}"/>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pic>
        <p:nvPicPr>
          <p:cNvPr id="13" name="Picture 12">
            <a:extLst>
              <a:ext uri="{FF2B5EF4-FFF2-40B4-BE49-F238E27FC236}">
                <a16:creationId xmlns:a16="http://schemas.microsoft.com/office/drawing/2014/main" id="{9C03D668-6EB8-3BE1-BBB9-11A5A5097E1F}"/>
              </a:ext>
            </a:extLst>
          </p:cNvPr>
          <p:cNvPicPr>
            <a:picLocks noChangeAspect="1"/>
          </p:cNvPicPr>
          <p:nvPr/>
        </p:nvPicPr>
        <p:blipFill>
          <a:blip r:embed="rId3"/>
          <a:stretch>
            <a:fillRect/>
          </a:stretch>
        </p:blipFill>
        <p:spPr>
          <a:xfrm>
            <a:off x="0" y="950129"/>
            <a:ext cx="5982929" cy="2700047"/>
          </a:xfrm>
          <a:prstGeom prst="rect">
            <a:avLst/>
          </a:prstGeom>
        </p:spPr>
      </p:pic>
      <p:pic>
        <p:nvPicPr>
          <p:cNvPr id="17" name="Picture 16">
            <a:extLst>
              <a:ext uri="{FF2B5EF4-FFF2-40B4-BE49-F238E27FC236}">
                <a16:creationId xmlns:a16="http://schemas.microsoft.com/office/drawing/2014/main" id="{81D5D35C-7BEF-8FE9-E380-E77244304B9A}"/>
              </a:ext>
            </a:extLst>
          </p:cNvPr>
          <p:cNvPicPr>
            <a:picLocks noChangeAspect="1"/>
          </p:cNvPicPr>
          <p:nvPr/>
        </p:nvPicPr>
        <p:blipFill>
          <a:blip r:embed="rId4"/>
          <a:stretch>
            <a:fillRect/>
          </a:stretch>
        </p:blipFill>
        <p:spPr>
          <a:xfrm>
            <a:off x="6164828" y="950128"/>
            <a:ext cx="6027172" cy="2700047"/>
          </a:xfrm>
          <a:prstGeom prst="rect">
            <a:avLst/>
          </a:prstGeom>
        </p:spPr>
      </p:pic>
      <p:pic>
        <p:nvPicPr>
          <p:cNvPr id="19" name="Picture 18">
            <a:extLst>
              <a:ext uri="{FF2B5EF4-FFF2-40B4-BE49-F238E27FC236}">
                <a16:creationId xmlns:a16="http://schemas.microsoft.com/office/drawing/2014/main" id="{B93B43D4-9A35-5F26-62CB-A7BC6E3BE56D}"/>
              </a:ext>
            </a:extLst>
          </p:cNvPr>
          <p:cNvPicPr>
            <a:picLocks noChangeAspect="1"/>
          </p:cNvPicPr>
          <p:nvPr/>
        </p:nvPicPr>
        <p:blipFill>
          <a:blip r:embed="rId5"/>
          <a:stretch>
            <a:fillRect/>
          </a:stretch>
        </p:blipFill>
        <p:spPr>
          <a:xfrm>
            <a:off x="4517" y="3669031"/>
            <a:ext cx="5978412" cy="2989427"/>
          </a:xfrm>
          <a:prstGeom prst="rect">
            <a:avLst/>
          </a:prstGeom>
        </p:spPr>
      </p:pic>
      <p:pic>
        <p:nvPicPr>
          <p:cNvPr id="22" name="Picture 21">
            <a:extLst>
              <a:ext uri="{FF2B5EF4-FFF2-40B4-BE49-F238E27FC236}">
                <a16:creationId xmlns:a16="http://schemas.microsoft.com/office/drawing/2014/main" id="{0138B21F-78E9-E229-2A1B-7B5304E6B696}"/>
              </a:ext>
            </a:extLst>
          </p:cNvPr>
          <p:cNvPicPr>
            <a:picLocks noChangeAspect="1"/>
          </p:cNvPicPr>
          <p:nvPr/>
        </p:nvPicPr>
        <p:blipFill>
          <a:blip r:embed="rId6"/>
          <a:stretch>
            <a:fillRect/>
          </a:stretch>
        </p:blipFill>
        <p:spPr>
          <a:xfrm>
            <a:off x="6160312" y="3669031"/>
            <a:ext cx="6027171" cy="2960369"/>
          </a:xfrm>
          <a:prstGeom prst="rect">
            <a:avLst/>
          </a:prstGeom>
        </p:spPr>
      </p:pic>
    </p:spTree>
    <p:extLst>
      <p:ext uri="{BB962C8B-B14F-4D97-AF65-F5344CB8AC3E}">
        <p14:creationId xmlns:p14="http://schemas.microsoft.com/office/powerpoint/2010/main" val="4160059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E320B-E5D7-B847-4FEB-5B93F903674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95A62A-3F22-A0FD-B052-3DE953B7237D}"/>
              </a:ext>
            </a:extLst>
          </p:cNvPr>
          <p:cNvSpPr/>
          <p:nvPr/>
        </p:nvSpPr>
        <p:spPr>
          <a:xfrm>
            <a:off x="0" y="228600"/>
            <a:ext cx="12192000" cy="721528"/>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8DF247A-E762-C259-3171-C7A4F819557B}"/>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BA2A61D-F93D-07ED-91C8-3252565B01AF}"/>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9583115D-7F40-57A0-4D27-095BE06F9710}"/>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556A532-83D8-56FE-F602-0CF00B2A2DEE}"/>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6</a:t>
            </a:r>
          </a:p>
        </p:txBody>
      </p:sp>
      <p:sp>
        <p:nvSpPr>
          <p:cNvPr id="16" name="TextBox 15">
            <a:extLst>
              <a:ext uri="{FF2B5EF4-FFF2-40B4-BE49-F238E27FC236}">
                <a16:creationId xmlns:a16="http://schemas.microsoft.com/office/drawing/2014/main" id="{5E09DC93-9B86-B74E-776A-EFAEB92CA7C1}"/>
              </a:ext>
            </a:extLst>
          </p:cNvPr>
          <p:cNvSpPr txBox="1"/>
          <p:nvPr/>
        </p:nvSpPr>
        <p:spPr>
          <a:xfrm>
            <a:off x="270076" y="199542"/>
            <a:ext cx="7315200" cy="769441"/>
          </a:xfrm>
          <a:prstGeom prst="rect">
            <a:avLst/>
          </a:prstGeom>
          <a:noFill/>
        </p:spPr>
        <p:txBody>
          <a:bodyPr wrap="square" rtlCol="0">
            <a:spAutoFit/>
          </a:bodyPr>
          <a:lstStyle/>
          <a:p>
            <a:pPr marL="12700">
              <a:lnSpc>
                <a:spcPct val="100000"/>
              </a:lnSpc>
              <a:spcBef>
                <a:spcPts val="100"/>
              </a:spcBef>
            </a:pPr>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Output </a:t>
            </a:r>
            <a:endParaRPr lang="en-IN" sz="4400" dirty="0">
              <a:latin typeface="Times New Roman"/>
              <a:cs typeface="Times New Roman"/>
            </a:endParaRPr>
          </a:p>
        </p:txBody>
      </p:sp>
      <p:sp>
        <p:nvSpPr>
          <p:cNvPr id="20" name="TextBox 19">
            <a:extLst>
              <a:ext uri="{FF2B5EF4-FFF2-40B4-BE49-F238E27FC236}">
                <a16:creationId xmlns:a16="http://schemas.microsoft.com/office/drawing/2014/main" id="{5991C264-2F4A-3FD7-5100-FBF4D6B9D608}"/>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pic>
        <p:nvPicPr>
          <p:cNvPr id="4" name="Picture 3">
            <a:extLst>
              <a:ext uri="{FF2B5EF4-FFF2-40B4-BE49-F238E27FC236}">
                <a16:creationId xmlns:a16="http://schemas.microsoft.com/office/drawing/2014/main" id="{F6D3786A-8E36-3B96-1DBE-B66912D5769C}"/>
              </a:ext>
            </a:extLst>
          </p:cNvPr>
          <p:cNvPicPr>
            <a:picLocks noChangeAspect="1"/>
          </p:cNvPicPr>
          <p:nvPr/>
        </p:nvPicPr>
        <p:blipFill>
          <a:blip r:embed="rId3"/>
          <a:stretch>
            <a:fillRect/>
          </a:stretch>
        </p:blipFill>
        <p:spPr>
          <a:xfrm>
            <a:off x="5843161" y="1397001"/>
            <a:ext cx="5731510" cy="3403600"/>
          </a:xfrm>
          <a:prstGeom prst="rect">
            <a:avLst/>
          </a:prstGeom>
        </p:spPr>
      </p:pic>
      <p:pic>
        <p:nvPicPr>
          <p:cNvPr id="5" name="Picture 4">
            <a:extLst>
              <a:ext uri="{FF2B5EF4-FFF2-40B4-BE49-F238E27FC236}">
                <a16:creationId xmlns:a16="http://schemas.microsoft.com/office/drawing/2014/main" id="{9440A6AE-D6D0-C474-2422-24813AA1484D}"/>
              </a:ext>
            </a:extLst>
          </p:cNvPr>
          <p:cNvPicPr>
            <a:picLocks noChangeAspect="1"/>
          </p:cNvPicPr>
          <p:nvPr/>
        </p:nvPicPr>
        <p:blipFill>
          <a:blip r:embed="rId4"/>
          <a:stretch>
            <a:fillRect/>
          </a:stretch>
        </p:blipFill>
        <p:spPr>
          <a:xfrm>
            <a:off x="364490" y="1094418"/>
            <a:ext cx="5308177" cy="3909382"/>
          </a:xfrm>
          <a:prstGeom prst="rect">
            <a:avLst/>
          </a:prstGeom>
        </p:spPr>
      </p:pic>
    </p:spTree>
    <p:extLst>
      <p:ext uri="{BB962C8B-B14F-4D97-AF65-F5344CB8AC3E}">
        <p14:creationId xmlns:p14="http://schemas.microsoft.com/office/powerpoint/2010/main" val="91070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CBFA9-8C43-E348-421D-10D84DD4DBC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DBABC8A-1A1A-B80D-42DF-D9703C22475C}"/>
              </a:ext>
            </a:extLst>
          </p:cNvPr>
          <p:cNvSpPr/>
          <p:nvPr/>
        </p:nvSpPr>
        <p:spPr>
          <a:xfrm>
            <a:off x="0" y="228600"/>
            <a:ext cx="12192000" cy="721528"/>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CFB95DB4-5727-945A-B2BC-14A8BDD4FD20}"/>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778DA6A-6C1B-8BE7-51EF-2676E1C4307B}"/>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1B6BFAEB-D5C6-AEAB-EDA2-E91B3FB78554}"/>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B293999-490E-4CCB-7FEA-B6A43C7908C4}"/>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7</a:t>
            </a:r>
          </a:p>
        </p:txBody>
      </p:sp>
      <p:sp>
        <p:nvSpPr>
          <p:cNvPr id="16" name="TextBox 15">
            <a:extLst>
              <a:ext uri="{FF2B5EF4-FFF2-40B4-BE49-F238E27FC236}">
                <a16:creationId xmlns:a16="http://schemas.microsoft.com/office/drawing/2014/main" id="{B26C7D44-54FB-E9B7-5682-48FA228EC509}"/>
              </a:ext>
            </a:extLst>
          </p:cNvPr>
          <p:cNvSpPr txBox="1"/>
          <p:nvPr/>
        </p:nvSpPr>
        <p:spPr>
          <a:xfrm>
            <a:off x="270076" y="199542"/>
            <a:ext cx="7315200" cy="769441"/>
          </a:xfrm>
          <a:prstGeom prst="rect">
            <a:avLst/>
          </a:prstGeom>
          <a:noFill/>
        </p:spPr>
        <p:txBody>
          <a:bodyPr wrap="square" rtlCol="0">
            <a:spAutoFit/>
          </a:bodyPr>
          <a:lstStyle/>
          <a:p>
            <a:pPr marL="12700">
              <a:lnSpc>
                <a:spcPct val="100000"/>
              </a:lnSpc>
              <a:spcBef>
                <a:spcPts val="100"/>
              </a:spcBef>
            </a:pPr>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Output</a:t>
            </a:r>
            <a:endParaRPr lang="en-IN" sz="4400" dirty="0">
              <a:latin typeface="Times New Roman"/>
              <a:cs typeface="Times New Roman"/>
            </a:endParaRPr>
          </a:p>
        </p:txBody>
      </p:sp>
      <p:sp>
        <p:nvSpPr>
          <p:cNvPr id="20" name="TextBox 19">
            <a:extLst>
              <a:ext uri="{FF2B5EF4-FFF2-40B4-BE49-F238E27FC236}">
                <a16:creationId xmlns:a16="http://schemas.microsoft.com/office/drawing/2014/main" id="{3E4E2AFB-31F5-B150-5C85-52672FF9C647}"/>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pic>
        <p:nvPicPr>
          <p:cNvPr id="4" name="Picture 3">
            <a:extLst>
              <a:ext uri="{FF2B5EF4-FFF2-40B4-BE49-F238E27FC236}">
                <a16:creationId xmlns:a16="http://schemas.microsoft.com/office/drawing/2014/main" id="{A5B0A2B6-0DEB-88BA-73CB-285ECF853696}"/>
              </a:ext>
            </a:extLst>
          </p:cNvPr>
          <p:cNvPicPr>
            <a:picLocks noChangeAspect="1"/>
          </p:cNvPicPr>
          <p:nvPr/>
        </p:nvPicPr>
        <p:blipFill>
          <a:blip r:embed="rId3"/>
          <a:stretch>
            <a:fillRect/>
          </a:stretch>
        </p:blipFill>
        <p:spPr>
          <a:xfrm>
            <a:off x="965425" y="1389016"/>
            <a:ext cx="4834242" cy="3665584"/>
          </a:xfrm>
          <a:prstGeom prst="rect">
            <a:avLst/>
          </a:prstGeom>
        </p:spPr>
      </p:pic>
      <p:pic>
        <p:nvPicPr>
          <p:cNvPr id="5" name="Picture 4">
            <a:extLst>
              <a:ext uri="{FF2B5EF4-FFF2-40B4-BE49-F238E27FC236}">
                <a16:creationId xmlns:a16="http://schemas.microsoft.com/office/drawing/2014/main" id="{DBA01189-4DBB-285C-9692-8E0037BB1E5E}"/>
              </a:ext>
            </a:extLst>
          </p:cNvPr>
          <p:cNvPicPr>
            <a:picLocks noChangeAspect="1"/>
          </p:cNvPicPr>
          <p:nvPr/>
        </p:nvPicPr>
        <p:blipFill>
          <a:blip r:embed="rId4"/>
          <a:stretch>
            <a:fillRect/>
          </a:stretch>
        </p:blipFill>
        <p:spPr>
          <a:xfrm>
            <a:off x="6096000" y="1389016"/>
            <a:ext cx="5731510" cy="3656593"/>
          </a:xfrm>
          <a:prstGeom prst="rect">
            <a:avLst/>
          </a:prstGeom>
        </p:spPr>
      </p:pic>
    </p:spTree>
    <p:extLst>
      <p:ext uri="{BB962C8B-B14F-4D97-AF65-F5344CB8AC3E}">
        <p14:creationId xmlns:p14="http://schemas.microsoft.com/office/powerpoint/2010/main" val="3624745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A5EF8-0D67-1AFB-A162-E26868EFBCB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CCAA3FF-7287-8433-E794-10845D95E1DA}"/>
              </a:ext>
            </a:extLst>
          </p:cNvPr>
          <p:cNvSpPr/>
          <p:nvPr/>
        </p:nvSpPr>
        <p:spPr>
          <a:xfrm>
            <a:off x="0" y="228600"/>
            <a:ext cx="12192000" cy="721528"/>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E9DFC6C-667F-26A3-C280-796A2A60304C}"/>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EFB2C96-A458-E538-F2E2-A943CA28C6CA}"/>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332B1B0-4D47-2302-5919-05FE575B59C4}"/>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F28040D-E850-F30B-2791-668E445281AF}"/>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8</a:t>
            </a:r>
          </a:p>
        </p:txBody>
      </p:sp>
      <p:sp>
        <p:nvSpPr>
          <p:cNvPr id="16" name="TextBox 15">
            <a:extLst>
              <a:ext uri="{FF2B5EF4-FFF2-40B4-BE49-F238E27FC236}">
                <a16:creationId xmlns:a16="http://schemas.microsoft.com/office/drawing/2014/main" id="{FFCA4918-8981-1166-95B8-9429F77C02E2}"/>
              </a:ext>
            </a:extLst>
          </p:cNvPr>
          <p:cNvSpPr txBox="1"/>
          <p:nvPr/>
        </p:nvSpPr>
        <p:spPr>
          <a:xfrm>
            <a:off x="270076" y="199542"/>
            <a:ext cx="7315200" cy="769441"/>
          </a:xfrm>
          <a:prstGeom prst="rect">
            <a:avLst/>
          </a:prstGeom>
          <a:noFill/>
        </p:spPr>
        <p:txBody>
          <a:bodyPr wrap="square" rtlCol="0">
            <a:spAutoFit/>
          </a:bodyPr>
          <a:lstStyle/>
          <a:p>
            <a:pPr marL="12700">
              <a:lnSpc>
                <a:spcPct val="100000"/>
              </a:lnSpc>
              <a:spcBef>
                <a:spcPts val="100"/>
              </a:spcBef>
            </a:pPr>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Output</a:t>
            </a:r>
            <a:endParaRPr lang="en-IN" sz="4400" dirty="0">
              <a:latin typeface="Times New Roman"/>
              <a:cs typeface="Times New Roman"/>
            </a:endParaRPr>
          </a:p>
        </p:txBody>
      </p:sp>
      <p:sp>
        <p:nvSpPr>
          <p:cNvPr id="20" name="TextBox 19">
            <a:extLst>
              <a:ext uri="{FF2B5EF4-FFF2-40B4-BE49-F238E27FC236}">
                <a16:creationId xmlns:a16="http://schemas.microsoft.com/office/drawing/2014/main" id="{FA5A8CEB-28D4-1BC3-279B-0B19C68EC7B1}"/>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pic>
        <p:nvPicPr>
          <p:cNvPr id="4" name="Picture 3">
            <a:extLst>
              <a:ext uri="{FF2B5EF4-FFF2-40B4-BE49-F238E27FC236}">
                <a16:creationId xmlns:a16="http://schemas.microsoft.com/office/drawing/2014/main" id="{853F3C70-C44A-B04F-512A-D8574FE78610}"/>
              </a:ext>
            </a:extLst>
          </p:cNvPr>
          <p:cNvPicPr>
            <a:picLocks noChangeAspect="1"/>
          </p:cNvPicPr>
          <p:nvPr/>
        </p:nvPicPr>
        <p:blipFill>
          <a:blip r:embed="rId3"/>
          <a:stretch>
            <a:fillRect/>
          </a:stretch>
        </p:blipFill>
        <p:spPr>
          <a:xfrm>
            <a:off x="971425" y="1062726"/>
            <a:ext cx="10443725" cy="5545843"/>
          </a:xfrm>
          <a:prstGeom prst="rect">
            <a:avLst/>
          </a:prstGeom>
        </p:spPr>
      </p:pic>
    </p:spTree>
    <p:extLst>
      <p:ext uri="{BB962C8B-B14F-4D97-AF65-F5344CB8AC3E}">
        <p14:creationId xmlns:p14="http://schemas.microsoft.com/office/powerpoint/2010/main" val="2342799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7DA52-73A5-E25C-1AED-1D88834E290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2224504-C3B8-D5E5-BA4A-99850429D5F0}"/>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400" kern="0" spc="-10" dirty="0">
                <a:solidFill>
                  <a:prstClr val="white"/>
                </a:solidFill>
                <a:latin typeface="Times New Roman"/>
                <a:cs typeface="Times New Roman"/>
              </a:rPr>
              <a:t>Research Paper</a:t>
            </a:r>
            <a:endParaRPr lang="en-IN" sz="44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D699DCD-6379-3D53-3CFD-2F1454CA19CA}"/>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98B538F-CDEA-413F-42F9-B12ACD60C499}"/>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9D413C2-94BF-A6BA-FDC8-2B909F41D4FE}"/>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B98BF07-123A-7D24-D09C-2AEE4CD4F0D0}"/>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19</a:t>
            </a:r>
            <a:endParaRPr lang="en-IN" sz="1600" dirty="0">
              <a:solidFill>
                <a:srgbClr val="002060"/>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BF15C1E4-E88F-78F1-18E1-0126AD0664EF}"/>
              </a:ext>
            </a:extLst>
          </p:cNvPr>
          <p:cNvSpPr txBox="1"/>
          <p:nvPr/>
        </p:nvSpPr>
        <p:spPr>
          <a:xfrm>
            <a:off x="1142359" y="-57956"/>
            <a:ext cx="9401604" cy="307777"/>
          </a:xfrm>
          <a:prstGeom prst="rect">
            <a:avLst/>
          </a:prstGeom>
          <a:noFill/>
        </p:spPr>
        <p:txBody>
          <a:bodyPr wrap="square" rtlCol="0">
            <a:spAutoFit/>
          </a:bodyPr>
          <a:lstStyle/>
          <a:p>
            <a:pPr algn="ctr"/>
            <a:r>
              <a:rPr lang="en-US" sz="1400">
                <a:solidFill>
                  <a:schemeClr val="bg1"/>
                </a:solidFill>
              </a:rPr>
              <a:t>Smart College Bus Tracking System Using Hybrid GPS and AI Chatbot</a:t>
            </a:r>
            <a:endParaRPr lang="en-IN" sz="1400" dirty="0">
              <a:solidFill>
                <a:schemeClr val="bg1"/>
              </a:solidFill>
            </a:endParaRPr>
          </a:p>
        </p:txBody>
      </p:sp>
      <p:pic>
        <p:nvPicPr>
          <p:cNvPr id="5" name="Picture 4">
            <a:extLst>
              <a:ext uri="{FF2B5EF4-FFF2-40B4-BE49-F238E27FC236}">
                <a16:creationId xmlns:a16="http://schemas.microsoft.com/office/drawing/2014/main" id="{A8FC42F9-6FE0-0BDC-405D-678CBD87D2FE}"/>
              </a:ext>
            </a:extLst>
          </p:cNvPr>
          <p:cNvPicPr>
            <a:picLocks noChangeAspect="1"/>
          </p:cNvPicPr>
          <p:nvPr/>
        </p:nvPicPr>
        <p:blipFill>
          <a:blip r:embed="rId3"/>
          <a:stretch>
            <a:fillRect/>
          </a:stretch>
        </p:blipFill>
        <p:spPr>
          <a:xfrm>
            <a:off x="0" y="1216326"/>
            <a:ext cx="3733800" cy="4860984"/>
          </a:xfrm>
          <a:prstGeom prst="rect">
            <a:avLst/>
          </a:prstGeom>
        </p:spPr>
      </p:pic>
      <p:pic>
        <p:nvPicPr>
          <p:cNvPr id="7" name="Picture 6">
            <a:extLst>
              <a:ext uri="{FF2B5EF4-FFF2-40B4-BE49-F238E27FC236}">
                <a16:creationId xmlns:a16="http://schemas.microsoft.com/office/drawing/2014/main" id="{31159A98-D21E-079B-FE79-6CD5ECA790D1}"/>
              </a:ext>
            </a:extLst>
          </p:cNvPr>
          <p:cNvPicPr>
            <a:picLocks noChangeAspect="1"/>
          </p:cNvPicPr>
          <p:nvPr/>
        </p:nvPicPr>
        <p:blipFill>
          <a:blip r:embed="rId4"/>
          <a:stretch>
            <a:fillRect/>
          </a:stretch>
        </p:blipFill>
        <p:spPr>
          <a:xfrm>
            <a:off x="3615267" y="1140809"/>
            <a:ext cx="4162774" cy="5374896"/>
          </a:xfrm>
          <a:prstGeom prst="rect">
            <a:avLst/>
          </a:prstGeom>
        </p:spPr>
      </p:pic>
      <p:pic>
        <p:nvPicPr>
          <p:cNvPr id="9" name="Picture 8">
            <a:extLst>
              <a:ext uri="{FF2B5EF4-FFF2-40B4-BE49-F238E27FC236}">
                <a16:creationId xmlns:a16="http://schemas.microsoft.com/office/drawing/2014/main" id="{2D54FBDA-081B-E56F-5F1F-3290B61AC9BC}"/>
              </a:ext>
            </a:extLst>
          </p:cNvPr>
          <p:cNvPicPr>
            <a:picLocks noChangeAspect="1"/>
          </p:cNvPicPr>
          <p:nvPr/>
        </p:nvPicPr>
        <p:blipFill>
          <a:blip r:embed="rId5"/>
          <a:stretch>
            <a:fillRect/>
          </a:stretch>
        </p:blipFill>
        <p:spPr>
          <a:xfrm>
            <a:off x="7679813" y="1039644"/>
            <a:ext cx="3619443" cy="4937824"/>
          </a:xfrm>
          <a:prstGeom prst="rect">
            <a:avLst/>
          </a:prstGeom>
        </p:spPr>
      </p:pic>
    </p:spTree>
    <p:extLst>
      <p:ext uri="{BB962C8B-B14F-4D97-AF65-F5344CB8AC3E}">
        <p14:creationId xmlns:p14="http://schemas.microsoft.com/office/powerpoint/2010/main" val="2697989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82134-76FB-D937-C3DA-41EF0CC8D73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D196D1B-DD28-406F-EE3C-1DD5EBB75212}"/>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263585F-661F-3EC8-D083-F342A4FF16E9}"/>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7D6AEE0-AB18-3FAA-9620-F39FE4DFE54B}"/>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0F6EC49-1F6C-7215-4C4B-05EB33417C67}"/>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9E3638A-F9E4-409C-27B4-56AAA5E73D15}"/>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20</a:t>
            </a:r>
          </a:p>
        </p:txBody>
      </p:sp>
      <p:sp>
        <p:nvSpPr>
          <p:cNvPr id="16" name="TextBox 15">
            <a:extLst>
              <a:ext uri="{FF2B5EF4-FFF2-40B4-BE49-F238E27FC236}">
                <a16:creationId xmlns:a16="http://schemas.microsoft.com/office/drawing/2014/main" id="{18907784-EAE1-E3D4-58F6-7E98F593D9ED}"/>
              </a:ext>
            </a:extLst>
          </p:cNvPr>
          <p:cNvSpPr txBox="1"/>
          <p:nvPr/>
        </p:nvSpPr>
        <p:spPr>
          <a:xfrm>
            <a:off x="304800" y="409825"/>
            <a:ext cx="7315200" cy="769441"/>
          </a:xfrm>
          <a:prstGeom prst="rect">
            <a:avLst/>
          </a:prstGeom>
          <a:noFill/>
        </p:spPr>
        <p:txBody>
          <a:bodyPr wrap="square" rtlCol="0">
            <a:spAutoFit/>
          </a:bodyPr>
          <a:lstStyle/>
          <a:p>
            <a:r>
              <a:rPr kumimoji="0" lang="en-IN" sz="4400" b="0" i="0" u="none" strike="noStrike" kern="0" cap="none" spc="-10" normalizeH="0" baseline="0" noProof="0" dirty="0">
                <a:ln>
                  <a:noFill/>
                </a:ln>
                <a:solidFill>
                  <a:prstClr val="white"/>
                </a:solidFill>
                <a:effectLst/>
                <a:uLnTx/>
                <a:uFillTx/>
                <a:latin typeface="Times New Roman"/>
                <a:cs typeface="Times New Roman"/>
              </a:rPr>
              <a:t>References</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90F815DE-A4A6-A074-8E0D-C6FC55FCF703}"/>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sp>
        <p:nvSpPr>
          <p:cNvPr id="21" name="TextBox 20">
            <a:extLst>
              <a:ext uri="{FF2B5EF4-FFF2-40B4-BE49-F238E27FC236}">
                <a16:creationId xmlns:a16="http://schemas.microsoft.com/office/drawing/2014/main" id="{3EBC29A4-8B96-9D8C-6038-387CC08F9A32}"/>
              </a:ext>
            </a:extLst>
          </p:cNvPr>
          <p:cNvSpPr txBox="1"/>
          <p:nvPr/>
        </p:nvSpPr>
        <p:spPr>
          <a:xfrm>
            <a:off x="304800" y="1327958"/>
            <a:ext cx="11454378" cy="5078313"/>
          </a:xfrm>
          <a:prstGeom prst="rect">
            <a:avLst/>
          </a:prstGeom>
          <a:noFill/>
        </p:spPr>
        <p:txBody>
          <a:bodyPr wrap="square" rtlCol="0">
            <a:spAutoFit/>
          </a:bodyPr>
          <a:lstStyle/>
          <a:p>
            <a:pPr lvl="0"/>
            <a:r>
              <a:rPr lang="en-US" dirty="0">
                <a:latin typeface="Times New Roman" panose="02020603050405020304" pitchFamily="18" charset="0"/>
                <a:cs typeface="Times New Roman" panose="02020603050405020304" pitchFamily="18" charset="0"/>
              </a:rPr>
              <a:t>[1] N. </a:t>
            </a:r>
            <a:r>
              <a:rPr lang="en-US" dirty="0" err="1">
                <a:latin typeface="Times New Roman" panose="02020603050405020304" pitchFamily="18" charset="0"/>
                <a:cs typeface="Times New Roman" panose="02020603050405020304" pitchFamily="18" charset="0"/>
              </a:rPr>
              <a:t>Malligeswari</a:t>
            </a:r>
            <a:r>
              <a:rPr lang="en-US" dirty="0">
                <a:latin typeface="Times New Roman" panose="02020603050405020304" pitchFamily="18" charset="0"/>
                <a:cs typeface="Times New Roman" panose="02020603050405020304" pitchFamily="18" charset="0"/>
              </a:rPr>
              <a:t>, P. A. Jothilakshmi, and K. </a:t>
            </a:r>
            <a:r>
              <a:rPr lang="en-US" dirty="0" err="1">
                <a:latin typeface="Times New Roman" panose="02020603050405020304" pitchFamily="18" charset="0"/>
                <a:cs typeface="Times New Roman" panose="02020603050405020304" pitchFamily="18" charset="0"/>
              </a:rPr>
              <a:t>Sindhumathi</a:t>
            </a:r>
            <a:r>
              <a:rPr lang="en-US" dirty="0">
                <a:latin typeface="Times New Roman" panose="02020603050405020304" pitchFamily="18" charset="0"/>
                <a:cs typeface="Times New Roman" panose="02020603050405020304" pitchFamily="18" charset="0"/>
              </a:rPr>
              <a:t>, “College bus tracking system,” Int. J. Eng. Res. Technol. IJERT, vol. 11, no. 03, 2023. </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[2] G. Gayathri, V. Vidhya, and V. Vinodh, “REAL TIME BUS TRACKING SYSTEM.,” Int. J. Adv. Res. </a:t>
            </a:r>
            <a:r>
              <a:rPr lang="en-US" dirty="0" err="1">
                <a:latin typeface="Times New Roman" panose="02020603050405020304" pitchFamily="18" charset="0"/>
                <a:cs typeface="Times New Roman" panose="02020603050405020304" pitchFamily="18" charset="0"/>
              </a:rPr>
              <a:t>Comput</a:t>
            </a:r>
            <a:r>
              <a:rPr lang="en-US" dirty="0">
                <a:latin typeface="Times New Roman" panose="02020603050405020304" pitchFamily="18" charset="0"/>
                <a:cs typeface="Times New Roman" panose="02020603050405020304" pitchFamily="18" charset="0"/>
              </a:rPr>
              <a:t>. Sci., vol. 9, no. 1, 2018, Accessed: May 04, 2025. [Online]. </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[3] J. SP, B. Sandhiya, M. Vanathi, and J. Karthika, “Bus Tracking System using Mobile GPS Technology,” in 2024 International Conference on Inventive Computation Technologies (ICICT), IEEE, 2024, pp. 1811 1813.</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 Accessed: May 04, 2025. [Online].</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 Available: </a:t>
            </a:r>
            <a:r>
              <a:rPr lang="en-US" u="sng" dirty="0">
                <a:latin typeface="Times New Roman" panose="02020603050405020304" pitchFamily="18" charset="0"/>
                <a:cs typeface="Times New Roman" panose="02020603050405020304" pitchFamily="18" charset="0"/>
                <a:hlinkClick r:id="rId3"/>
              </a:rPr>
              <a:t>https://ieeexplore.ieee.org/abstract/document/10544750/</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[4] N. </a:t>
            </a:r>
            <a:r>
              <a:rPr lang="en-US" dirty="0" err="1">
                <a:latin typeface="Times New Roman" panose="02020603050405020304" pitchFamily="18" charset="0"/>
                <a:cs typeface="Times New Roman" panose="02020603050405020304" pitchFamily="18" charset="0"/>
              </a:rPr>
              <a:t>Chadil</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Russameesawang</a:t>
            </a:r>
            <a:r>
              <a:rPr lang="en-US" dirty="0">
                <a:latin typeface="Times New Roman" panose="02020603050405020304" pitchFamily="18" charset="0"/>
                <a:cs typeface="Times New Roman" panose="02020603050405020304" pitchFamily="18" charset="0"/>
              </a:rPr>
              <a:t>, and P. </a:t>
            </a:r>
            <a:r>
              <a:rPr lang="en-US" dirty="0" err="1">
                <a:latin typeface="Times New Roman" panose="02020603050405020304" pitchFamily="18" charset="0"/>
                <a:cs typeface="Times New Roman" panose="02020603050405020304" pitchFamily="18" charset="0"/>
              </a:rPr>
              <a:t>Keeratiwintakorn</a:t>
            </a:r>
            <a:r>
              <a:rPr lang="en-US" dirty="0">
                <a:latin typeface="Times New Roman" panose="02020603050405020304" pitchFamily="18" charset="0"/>
                <a:cs typeface="Times New Roman" panose="02020603050405020304" pitchFamily="18" charset="0"/>
              </a:rPr>
              <a:t>, “Real-time tracking management system using GPS, GPRS and Google earth,” in 2008 5th International Engineering/Electronics, Conference Computer, on Electrical Telecommunications and Information Technology, IEEE, 2008, pp. 393–396. Accessed: May 04, 2025. </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[Online]. </a:t>
            </a:r>
            <a:r>
              <a:rPr lang="en-US" u="sng" dirty="0">
                <a:latin typeface="Times New Roman" panose="02020603050405020304" pitchFamily="18" charset="0"/>
                <a:cs typeface="Times New Roman" panose="02020603050405020304" pitchFamily="18" charset="0"/>
                <a:hlinkClick r:id="rId4"/>
              </a:rPr>
              <a:t>https://ieeexplore.ieee.org/abstract/document/4600454/</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[5] T. Chen, H. Yeh, H. Wei, M. Sun, T. Hsu, and W. Shih, “An effective monitoring framework and user interface design,” </a:t>
            </a:r>
            <a:r>
              <a:rPr lang="en-US" dirty="0" err="1">
                <a:latin typeface="Times New Roman" panose="02020603050405020304" pitchFamily="18" charset="0"/>
                <a:cs typeface="Times New Roman" panose="02020603050405020304" pitchFamily="18" charset="0"/>
              </a:rPr>
              <a:t>Softw</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Pract</a:t>
            </a:r>
            <a:r>
              <a:rPr lang="en-US" dirty="0">
                <a:latin typeface="Times New Roman" panose="02020603050405020304" pitchFamily="18" charset="0"/>
                <a:cs typeface="Times New Roman" panose="02020603050405020304" pitchFamily="18" charset="0"/>
              </a:rPr>
              <a:t>. Exp., vol. 45, no. 4, pp. 549–570, Apr. 2015</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6315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AA863-7F61-0021-A2A8-ADA21630D68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45E5106-C521-15C8-7AC3-E06A271B7BE7}"/>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400" kern="0" spc="-10" dirty="0">
                <a:solidFill>
                  <a:prstClr val="white"/>
                </a:solidFill>
                <a:latin typeface="Times New Roman"/>
                <a:cs typeface="Times New Roman"/>
              </a:rPr>
              <a:t>G</a:t>
            </a:r>
            <a:r>
              <a:rPr lang="en-IN" sz="4400" kern="0" spc="-10" dirty="0">
                <a:solidFill>
                  <a:prstClr val="white"/>
                </a:solidFill>
                <a:latin typeface="Times New Roman"/>
                <a:cs typeface="Times New Roman"/>
              </a:rPr>
              <a:t>it Hub</a:t>
            </a:r>
            <a:endParaRPr lang="en-IN" sz="44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06B26BE-51F4-7B08-D576-684811C1897C}"/>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0A9FD1F-F649-67BB-84EE-1815F5F0E537}"/>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368A3B9-5D03-C5B3-E495-0E318C511FA6}"/>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5CF2E8D-16AF-F2A9-C28E-32E77CCDF29D}"/>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2</a:t>
            </a:r>
            <a:r>
              <a:rPr lang="en-IN" sz="1600" dirty="0">
                <a:solidFill>
                  <a:srgbClr val="002060"/>
                </a:solidFill>
                <a:latin typeface="Times New Roman" panose="02020603050405020304" pitchFamily="18" charset="0"/>
                <a:cs typeface="Times New Roman" panose="02020603050405020304" pitchFamily="18" charset="0"/>
              </a:rPr>
              <a:t>1</a:t>
            </a:r>
          </a:p>
        </p:txBody>
      </p:sp>
      <p:sp>
        <p:nvSpPr>
          <p:cNvPr id="20" name="TextBox 19">
            <a:extLst>
              <a:ext uri="{FF2B5EF4-FFF2-40B4-BE49-F238E27FC236}">
                <a16:creationId xmlns:a16="http://schemas.microsoft.com/office/drawing/2014/main" id="{6674E83B-90FE-57C6-5810-4E67A0B6D9C3}"/>
              </a:ext>
            </a:extLst>
          </p:cNvPr>
          <p:cNvSpPr txBox="1"/>
          <p:nvPr/>
        </p:nvSpPr>
        <p:spPr>
          <a:xfrm>
            <a:off x="1142359" y="-57956"/>
            <a:ext cx="9401604" cy="307777"/>
          </a:xfrm>
          <a:prstGeom prst="rect">
            <a:avLst/>
          </a:prstGeom>
          <a:noFill/>
        </p:spPr>
        <p:txBody>
          <a:bodyPr wrap="square" rtlCol="0">
            <a:spAutoFit/>
          </a:bodyPr>
          <a:lstStyle/>
          <a:p>
            <a:pPr algn="ctr"/>
            <a:r>
              <a:rPr lang="en-US" sz="1400">
                <a:solidFill>
                  <a:schemeClr val="bg1"/>
                </a:solidFill>
              </a:rPr>
              <a:t>Smart College Bus Tracking System Using Hybrid GPS and AI Chatbot</a:t>
            </a:r>
            <a:endParaRPr lang="en-IN" sz="1400" dirty="0">
              <a:solidFill>
                <a:schemeClr val="bg1"/>
              </a:solidFill>
            </a:endParaRPr>
          </a:p>
        </p:txBody>
      </p:sp>
      <p:sp>
        <p:nvSpPr>
          <p:cNvPr id="7" name="TextBox 6">
            <a:extLst>
              <a:ext uri="{FF2B5EF4-FFF2-40B4-BE49-F238E27FC236}">
                <a16:creationId xmlns:a16="http://schemas.microsoft.com/office/drawing/2014/main" id="{2733FA83-8024-F0CB-5812-96D01F40496D}"/>
              </a:ext>
            </a:extLst>
          </p:cNvPr>
          <p:cNvSpPr txBox="1"/>
          <p:nvPr/>
        </p:nvSpPr>
        <p:spPr>
          <a:xfrm>
            <a:off x="0" y="6189605"/>
            <a:ext cx="11794066" cy="369332"/>
          </a:xfrm>
          <a:prstGeom prst="rect">
            <a:avLst/>
          </a:prstGeom>
          <a:noFill/>
        </p:spPr>
        <p:txBody>
          <a:bodyPr wrap="square">
            <a:spAutoFit/>
          </a:bodyPr>
          <a:lstStyle/>
          <a:p>
            <a:r>
              <a:rPr lang="en-US" dirty="0"/>
              <a:t>Git-Hub : </a:t>
            </a:r>
            <a:r>
              <a:rPr lang="en-US" u="sng" dirty="0"/>
              <a:t>https://github.com/Arunkumar6302/COLLEGE.git</a:t>
            </a:r>
            <a:endParaRPr lang="en-IN" u="sng" dirty="0"/>
          </a:p>
        </p:txBody>
      </p:sp>
      <p:pic>
        <p:nvPicPr>
          <p:cNvPr id="5" name="Picture 4">
            <a:extLst>
              <a:ext uri="{FF2B5EF4-FFF2-40B4-BE49-F238E27FC236}">
                <a16:creationId xmlns:a16="http://schemas.microsoft.com/office/drawing/2014/main" id="{46CAD83C-CF2A-B81C-C95B-89FEDC242858}"/>
              </a:ext>
            </a:extLst>
          </p:cNvPr>
          <p:cNvPicPr>
            <a:picLocks noChangeAspect="1"/>
          </p:cNvPicPr>
          <p:nvPr/>
        </p:nvPicPr>
        <p:blipFill>
          <a:blip r:embed="rId3"/>
          <a:stretch>
            <a:fillRect/>
          </a:stretch>
        </p:blipFill>
        <p:spPr>
          <a:xfrm>
            <a:off x="1507066" y="1353356"/>
            <a:ext cx="8322733" cy="4599061"/>
          </a:xfrm>
          <a:prstGeom prst="rect">
            <a:avLst/>
          </a:prstGeom>
        </p:spPr>
      </p:pic>
    </p:spTree>
    <p:extLst>
      <p:ext uri="{BB962C8B-B14F-4D97-AF65-F5344CB8AC3E}">
        <p14:creationId xmlns:p14="http://schemas.microsoft.com/office/powerpoint/2010/main" val="2699744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677AB-B3ED-90C8-21BB-0E368F15581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C9BDFEB-0FCD-6BA6-215D-837CC92A141E}"/>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C42836F-6567-4067-FA7F-E5EEE614D195}"/>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2083A37-66A5-D583-DEBB-10C348110816}"/>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DF94577-F4B6-1302-A85B-465BB921C79D}"/>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1320A1D1-B06C-A617-644C-A8988D4151F7}"/>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2</a:t>
            </a:r>
            <a:r>
              <a:rPr lang="en-IN" sz="1600" dirty="0">
                <a:solidFill>
                  <a:srgbClr val="002060"/>
                </a:solidFill>
                <a:latin typeface="Times New Roman" panose="02020603050405020304" pitchFamily="18" charset="0"/>
                <a:cs typeface="Times New Roman" panose="02020603050405020304" pitchFamily="18" charset="0"/>
              </a:rPr>
              <a:t>2</a:t>
            </a:r>
          </a:p>
        </p:txBody>
      </p:sp>
      <p:sp>
        <p:nvSpPr>
          <p:cNvPr id="20" name="TextBox 19">
            <a:extLst>
              <a:ext uri="{FF2B5EF4-FFF2-40B4-BE49-F238E27FC236}">
                <a16:creationId xmlns:a16="http://schemas.microsoft.com/office/drawing/2014/main" id="{4B750109-D504-D761-AA29-41013C5EB0E7}"/>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rPr>
              <a:t>Smart College Bus Tracking System Using Hybrid GPS and AI Chatbot</a:t>
            </a:r>
            <a:endParaRPr lang="en-IN" sz="1400" dirty="0">
              <a:solidFill>
                <a:schemeClr val="bg1"/>
              </a:solidFill>
            </a:endParaRPr>
          </a:p>
        </p:txBody>
      </p:sp>
      <p:sp>
        <p:nvSpPr>
          <p:cNvPr id="5" name="TextBox 4">
            <a:extLst>
              <a:ext uri="{FF2B5EF4-FFF2-40B4-BE49-F238E27FC236}">
                <a16:creationId xmlns:a16="http://schemas.microsoft.com/office/drawing/2014/main" id="{078EB441-655C-E212-0A37-F9EACBAFBB2B}"/>
              </a:ext>
            </a:extLst>
          </p:cNvPr>
          <p:cNvSpPr txBox="1"/>
          <p:nvPr/>
        </p:nvSpPr>
        <p:spPr>
          <a:xfrm>
            <a:off x="2501661" y="2850098"/>
            <a:ext cx="7315200" cy="1569660"/>
          </a:xfrm>
          <a:prstGeom prst="rect">
            <a:avLst/>
          </a:prstGeom>
          <a:noFill/>
        </p:spPr>
        <p:txBody>
          <a:bodyPr wrap="square">
            <a:spAutoFit/>
          </a:bodyPr>
          <a:lstStyle/>
          <a:p>
            <a:pPr marL="50800" indent="0" algn="ctr">
              <a:buNone/>
            </a:pPr>
            <a:r>
              <a:rPr lang="en-US" sz="9600" i="1" dirty="0">
                <a:ln w="15875"/>
                <a:solidFill>
                  <a:srgbClr val="F78F07"/>
                </a:solidFill>
                <a:effectLst/>
                <a:latin typeface="Times New Roman" panose="02020603050405020304" pitchFamily="18" charset="0"/>
                <a:cs typeface="Times New Roman" panose="02020603050405020304" pitchFamily="18" charset="0"/>
              </a:rPr>
              <a:t>THANK YO</a:t>
            </a:r>
            <a:r>
              <a:rPr lang="en-US" sz="9600" i="1" dirty="0">
                <a:ln w="15875"/>
                <a:solidFill>
                  <a:srgbClr val="F78F07"/>
                </a:solidFill>
                <a:latin typeface="Times New Roman" panose="02020603050405020304" pitchFamily="18" charset="0"/>
                <a:cs typeface="Times New Roman" panose="02020603050405020304" pitchFamily="18" charset="0"/>
              </a:rPr>
              <a:t>U</a:t>
            </a:r>
            <a:endParaRPr lang="en-US" sz="9600" i="1" dirty="0">
              <a:ln w="15875"/>
              <a:solidFill>
                <a:srgbClr val="F78F07"/>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00375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65D33-3DC9-67F8-88BA-6C220836EA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7334F7E-3887-7E51-9CF8-AF3D74A1431D}"/>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6874EAC-4DDC-8E52-0CC6-02401D69376A}"/>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A25</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487EAE8-482C-811E-9E16-61333A62785D}"/>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9B6056E-6469-6547-237E-75753226A84C}"/>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30B5D66-FE4A-BBF8-04AB-B1662692C5B9}"/>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2</a:t>
            </a:r>
            <a:r>
              <a:rPr lang="en-IN" sz="1600" dirty="0">
                <a:solidFill>
                  <a:srgbClr val="002060"/>
                </a:solidFill>
                <a:latin typeface="Times New Roman" panose="02020603050405020304" pitchFamily="18" charset="0"/>
                <a:cs typeface="Times New Roman" panose="02020603050405020304" pitchFamily="18" charset="0"/>
              </a:rPr>
              <a:t>3</a:t>
            </a:r>
          </a:p>
        </p:txBody>
      </p:sp>
      <p:sp>
        <p:nvSpPr>
          <p:cNvPr id="20" name="TextBox 19">
            <a:extLst>
              <a:ext uri="{FF2B5EF4-FFF2-40B4-BE49-F238E27FC236}">
                <a16:creationId xmlns:a16="http://schemas.microsoft.com/office/drawing/2014/main" id="{5D9B3454-3C1A-A7E2-592F-5BB5D9EF1648}"/>
              </a:ext>
            </a:extLst>
          </p:cNvPr>
          <p:cNvSpPr txBox="1"/>
          <p:nvPr/>
        </p:nvSpPr>
        <p:spPr>
          <a:xfrm>
            <a:off x="1142359" y="-57956"/>
            <a:ext cx="9401604" cy="307777"/>
          </a:xfrm>
          <a:prstGeom prst="rect">
            <a:avLst/>
          </a:prstGeom>
          <a:noFill/>
        </p:spPr>
        <p:txBody>
          <a:bodyPr wrap="square" rtlCol="0">
            <a:spAutoFit/>
          </a:bodyPr>
          <a:lstStyle/>
          <a:p>
            <a:pPr algn="ctr"/>
            <a:r>
              <a:rPr lang="en-US" sz="1400">
                <a:solidFill>
                  <a:schemeClr val="bg1"/>
                </a:solidFill>
              </a:rPr>
              <a:t>Smart College Bus Tracking System Using Hybrid GPS and AI Chatbot</a:t>
            </a:r>
            <a:endParaRPr lang="en-IN" sz="1400" dirty="0">
              <a:solidFill>
                <a:schemeClr val="bg1"/>
              </a:solidFill>
            </a:endParaRPr>
          </a:p>
        </p:txBody>
      </p:sp>
      <p:sp>
        <p:nvSpPr>
          <p:cNvPr id="5" name="TextBox 4">
            <a:extLst>
              <a:ext uri="{FF2B5EF4-FFF2-40B4-BE49-F238E27FC236}">
                <a16:creationId xmlns:a16="http://schemas.microsoft.com/office/drawing/2014/main" id="{4DBC683C-7ABF-4263-4B22-20B56FB152F0}"/>
              </a:ext>
            </a:extLst>
          </p:cNvPr>
          <p:cNvSpPr txBox="1"/>
          <p:nvPr/>
        </p:nvSpPr>
        <p:spPr>
          <a:xfrm>
            <a:off x="2268747" y="2644170"/>
            <a:ext cx="8747185" cy="1569660"/>
          </a:xfrm>
          <a:prstGeom prst="rect">
            <a:avLst/>
          </a:prstGeom>
          <a:noFill/>
        </p:spPr>
        <p:txBody>
          <a:bodyPr wrap="square">
            <a:spAutoFit/>
          </a:bodyPr>
          <a:lstStyle/>
          <a:p>
            <a:pPr marL="50800" indent="0" algn="ctr">
              <a:buNone/>
            </a:pPr>
            <a:r>
              <a:rPr lang="en-US" sz="9600" i="1" dirty="0">
                <a:ln w="15875"/>
                <a:solidFill>
                  <a:srgbClr val="F78F07"/>
                </a:solidFill>
                <a:latin typeface="Times New Roman" panose="02020603050405020304" pitchFamily="18" charset="0"/>
                <a:cs typeface="Times New Roman" panose="02020603050405020304" pitchFamily="18" charset="0"/>
              </a:rPr>
              <a:t>ANY QUERIES?</a:t>
            </a:r>
            <a:endParaRPr lang="en-US" sz="9600" i="1" dirty="0">
              <a:ln w="15875"/>
              <a:solidFill>
                <a:srgbClr val="F78F07"/>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41857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review----1</Template>
  <TotalTime>880</TotalTime>
  <Words>2612</Words>
  <Application>Microsoft Office PowerPoint</Application>
  <PresentationFormat>Widescreen</PresentationFormat>
  <Paragraphs>303</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Tharun K M</dc:creator>
  <cp:lastModifiedBy>Arun Kumar</cp:lastModifiedBy>
  <cp:revision>24</cp:revision>
  <dcterms:created xsi:type="dcterms:W3CDTF">2026-01-08T05:45:04Z</dcterms:created>
  <dcterms:modified xsi:type="dcterms:W3CDTF">2026-04-09T02:05:23Z</dcterms:modified>
</cp:coreProperties>
</file>